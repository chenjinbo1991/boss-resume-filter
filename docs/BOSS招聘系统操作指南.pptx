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6" d="100"/>
          <a:sy n="126" d="100"/>
        </p:scale>
        <p:origin x="411" y="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CC794-C291-48E2-862C-BBD2ADDE27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728870-36C8-40B8-ABFA-C51BE848EC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5B9BED-84FD-4159-B6ED-DF635DB79A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2026/6/16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86ABCE-7D07-4AAA-8BAC-579AD74613A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BF8333-D324-49B4-BD93-DFA50399087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DFECB-EBB6-46E3-91D5-1D7CC95FB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B2D9-0F98-4D62-992D-C9D2796DD9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0CD0EE-35A8-4194-AFED-8F9E6763974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2026/6/16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1C42E6-F627-4DEF-AECB-856760D86A3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ECE018-63F3-4D8A-9F14-9B9FF945EA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2092A-1D9A-4EB7-9794-7BA5683F2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44A27F-BE6D-4BC8-8D2E-DAD5C9532C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6284D8-81A3-4ACB-ADEA-C288B2DED61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2026/6/16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356A6B-45AB-4F7A-8B9D-A483178B89D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A51D53-EF6E-4225-ADC7-922475DF926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E5EBB-3604-41FC-BE51-77786B287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D70D30-E454-4719-A369-58025D96BD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0CB461-563E-486F-BA7F-73A746C5E612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48B47E-550F-468E-BCFC-493774E84F5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2026/6/16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C8F937-F631-4A27-9088-5F8C0165B72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18A40D-85A9-4C03-A0B3-F37F1C61A57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00531-C70B-43FA-A90F-65C746455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A3DD6E-75E9-4073-8689-DB00C21AD8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770C02-5347-4965-9B42-B2DFF9A319BC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ED09B2-91EB-413C-BF9B-775B162F6129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EA34CF-72CE-49C5-9753-DCA15C3946B0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3E254E-5B84-4F58-865F-069688EDA55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2026/6/16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B6CD4C-8518-4987-97B9-96B7DF55991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6434A3-9957-42EF-AA55-DDBC1E1A72A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DF91A-CFBD-46AF-9826-331B1958D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A9982B-C686-467A-988E-F9D69216011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2026/6/16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9AEE57-7303-4AD0-851A-BC32A43FDD5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44525-1A28-4A5E-B082-44F8BFB1707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31C647-5609-4C2E-B28E-D56AFE79B45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2026/6/16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43E493-47FB-4CC6-A8A9-CBE6C04ED31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9564E6-EDC8-40E4-9AA9-BB71D5DAD24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745F7-037E-4800-ABB3-CBADE3DF2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1AFFE6-0A55-47AA-9028-9E5D787B2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3FBDF7-1737-44D8-AFFF-61F14C4DFBE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FAF675-3A11-47B9-A419-07FF878EA3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2026/6/16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22D110-CCD7-40DE-88ED-17F7FFF52E1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159C68-0FA3-4965-B929-99D53984DA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08027-06A9-4990-945B-F6FBD70D4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90143B-4A8C-4CC0-8261-466FED1E65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199B6E-58C0-450B-9A05-4F81A5A07E5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86D68F-1765-4131-9019-D278A784A70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2026/6/16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6EBFCB-E8FB-494E-B490-84B1C800B5A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1B457A-FEEA-4AB0-BB70-02BAF33E9A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BD779-0442-4599-8F8F-4F6F49287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724852-6DE5-4BE9-8473-E532790D26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644653-BEF8-4B2C-A69E-3A5E361C78E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2026/6/16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8CAD9D-D4E2-4300-ABFA-F9FA6ECB70E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117281-DF24-420C-A611-06D3791E04E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C25F75-EACE-4260-B542-A211776F41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F9B953-0803-4876-873E-A6EEF908F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804AC-EE8F-42FA-A618-2E130C5AFF8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2026/6/16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6FC0BA-3706-40DF-8C20-092D0F669E0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ED043-4B25-4C37-A81E-F6F765A416C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1F9E05-FB31-4EC7-AFCA-ED764F744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F11675-C8B1-4A3C-B680-DDC55B11A2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E8ABFB-D341-43F5-B18D-FF40FB3D8C3A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2026/6/16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AA0CC5-00F0-4DF5-A0B1-396D4553455C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BBCF38-4C3E-4087-97AC-22CDDA904266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5E40650-07B3-4F0F-AD17-4B8583642E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6CEFB2A-1A11-4103-86D2-8E0DDE3C27B1}"/>
              </a:ext>
            </a:extLst>
          </p:cNvPr>
          <p:cNvSpPr>
            <a:spLocks noGrp="1"/>
          </p:cNvSpPr>
          <p:nvPr/>
        </p:nvSpPr>
        <p:spPr>
          <a:xfrm>
            <a:off x="9601200" y="-1371600"/>
            <a:ext cx="3657600" cy="3657600"/>
          </a:xfrm>
          <a:prstGeom prst="ellipse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CB553DB-8341-4CC4-8C3F-5B66F6FE99FF}"/>
              </a:ext>
            </a:extLst>
          </p:cNvPr>
          <p:cNvSpPr>
            <a:spLocks noGrp="1"/>
          </p:cNvSpPr>
          <p:nvPr/>
        </p:nvSpPr>
        <p:spPr>
          <a:xfrm>
            <a:off x="10058400" y="4572000"/>
            <a:ext cx="2743200" cy="2743200"/>
          </a:xfrm>
          <a:prstGeom prst="ellipse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EFAA6BB-0947-42D9-9AAD-E7F37B0FDCC4}"/>
              </a:ext>
            </a:extLst>
          </p:cNvPr>
          <p:cNvSpPr>
            <a:spLocks noGrp="1"/>
          </p:cNvSpPr>
          <p:nvPr/>
        </p:nvSpPr>
        <p:spPr>
          <a:xfrm>
            <a:off x="1097280" y="1371600"/>
            <a:ext cx="1463040" cy="320040"/>
          </a:xfrm>
          <a:prstGeom prst="round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操作指南 v2.11.3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6E6D6C-EC0B-4402-844A-679AACAB2451}"/>
              </a:ext>
            </a:extLst>
          </p:cNvPr>
          <p:cNvSpPr>
            <a:spLocks noGrp="1"/>
          </p:cNvSpPr>
          <p:nvPr/>
        </p:nvSpPr>
        <p:spPr>
          <a:xfrm>
            <a:off x="109728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5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BOSS 招聘系统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862135-30BC-4A6F-8BFD-D0DF9BDEFA9F}"/>
              </a:ext>
            </a:extLst>
          </p:cNvPr>
          <p:cNvSpPr>
            <a:spLocks noGrp="1"/>
          </p:cNvSpPr>
          <p:nvPr/>
        </p:nvSpPr>
        <p:spPr>
          <a:xfrm>
            <a:off x="1097280" y="32004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4800" b="1" i="0">
                <a:solidFill>
                  <a:srgbClr val="E8652C"/>
                </a:solidFill>
                <a:latin typeface="Microsoft YaHei"/>
                <a:ea typeface="Microsoft YaHei"/>
                <a:cs typeface="Microsoft YaHei"/>
              </a:rPr>
              <a:t>操作指南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C2EF54-63D6-4525-8325-84F89BA72FB7}"/>
              </a:ext>
            </a:extLst>
          </p:cNvPr>
          <p:cNvSpPr>
            <a:spLocks noGrp="1"/>
          </p:cNvSpPr>
          <p:nvPr/>
        </p:nvSpPr>
        <p:spPr>
          <a:xfrm>
            <a:off x="1097279" y="4572000"/>
            <a:ext cx="82295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 dirty="0" err="1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岗位配置</a:t>
            </a:r>
            <a:r>
              <a:rPr sz="1600" b="0" i="0" dirty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 · </a:t>
            </a:r>
            <a:r>
              <a:rPr sz="1600" b="0" i="0" dirty="0" err="1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安全扫描</a:t>
            </a:r>
            <a:r>
              <a:rPr sz="1600" b="0" i="0" dirty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 · </a:t>
            </a:r>
            <a:r>
              <a:rPr lang="zh-CN" altLang="en-US" sz="1600" dirty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智能筛选 </a:t>
            </a:r>
            <a:r>
              <a:rPr lang="en-US" altLang="zh-CN" sz="1600" dirty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· </a:t>
            </a:r>
            <a:r>
              <a:rPr sz="1600" b="0" i="0" dirty="0" err="1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自动打招呼</a:t>
            </a:r>
            <a:r>
              <a:rPr sz="1600" b="0" i="0" dirty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 · </a:t>
            </a:r>
            <a:r>
              <a:rPr lang="zh-CN" altLang="en-US" sz="1600" b="0" i="0" dirty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人工反馈 </a:t>
            </a:r>
            <a:r>
              <a:rPr lang="en-US" altLang="zh-CN" sz="1600" dirty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· </a:t>
            </a:r>
            <a:r>
              <a:rPr lang="zh-CN" altLang="en-US" sz="1600" dirty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跟进状态 </a:t>
            </a:r>
            <a:r>
              <a:rPr lang="en-US" altLang="zh-CN" sz="1600" dirty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· </a:t>
            </a:r>
            <a:r>
              <a:rPr lang="zh-CN" altLang="en-US" sz="1600" dirty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数据复盘</a:t>
            </a:r>
            <a:endParaRPr sz="1600" b="0" i="0" dirty="0">
              <a:solidFill>
                <a:srgbClr val="6B7B8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6FB67E-3F84-4244-80C3-00EA4FBEB806}"/>
              </a:ext>
            </a:extLst>
          </p:cNvPr>
          <p:cNvSpPr>
            <a:spLocks noGrp="1"/>
          </p:cNvSpPr>
          <p:nvPr/>
        </p:nvSpPr>
        <p:spPr>
          <a:xfrm>
            <a:off x="1097280" y="5943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适用对象：图形界面用户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D364D2-0C8A-4B55-9720-3D4CC1F8CFF0}"/>
              </a:ext>
            </a:extLst>
          </p:cNvPr>
          <p:cNvSpPr>
            <a:spLocks noGrp="1"/>
          </p:cNvSpPr>
          <p:nvPr/>
        </p:nvSpPr>
        <p:spPr>
          <a:xfrm>
            <a:off x="8229600" y="5943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12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2026 · 内部培训资料</a:t>
            </a:r>
          </a:p>
        </p:txBody>
      </p:sp>
    </p:spTree>
    <p:extLst>
      <p:ext uri="{BB962C8B-B14F-4D97-AF65-F5344CB8AC3E}">
        <p14:creationId xmlns:p14="http://schemas.microsoft.com/office/powerpoint/2010/main" val="1109771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3B9099-D2C5-450C-8BAE-19DD7AF1D50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712431C-055D-402C-B1BC-038FA7CFCE34}"/>
              </a:ext>
            </a:extLst>
          </p:cNvPr>
          <p:cNvSpPr>
            <a:spLocks noGrp="1"/>
          </p:cNvSpPr>
          <p:nvPr/>
        </p:nvSpPr>
        <p:spPr>
          <a:xfrm>
            <a:off x="731520" y="1097280"/>
            <a:ext cx="1463040" cy="320040"/>
          </a:xfrm>
          <a:prstGeom prst="round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OVERVIEW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4CD469-62F9-43EB-8237-2926D4256DAE}"/>
              </a:ext>
            </a:extLst>
          </p:cNvPr>
          <p:cNvSpPr>
            <a:spLocks noGrp="1"/>
          </p:cNvSpPr>
          <p:nvPr/>
        </p:nvSpPr>
        <p:spPr>
          <a:xfrm>
            <a:off x="731520" y="16459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4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系统能
做什么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02AEFB-FB6F-4C09-8EB0-BABA44C68B40}"/>
              </a:ext>
            </a:extLst>
          </p:cNvPr>
          <p:cNvSpPr>
            <a:spLocks noGrp="1"/>
          </p:cNvSpPr>
          <p:nvPr/>
        </p:nvSpPr>
        <p:spPr>
          <a:xfrm>
            <a:off x="731520" y="34747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把候选人获取、筛选、评分、打招呼和导出串成一个可重复执行的流程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2DB9C8-1C90-4D19-956F-D49680D3C544}"/>
              </a:ext>
            </a:extLst>
          </p:cNvPr>
          <p:cNvSpPr>
            <a:spLocks noGrp="1"/>
          </p:cNvSpPr>
          <p:nvPr/>
        </p:nvSpPr>
        <p:spPr>
          <a:xfrm>
            <a:off x="5120640" y="640080"/>
            <a:ext cx="457200" cy="45720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C51AD5-CB43-4D28-A904-97DA5EE36DBE}"/>
              </a:ext>
            </a:extLst>
          </p:cNvPr>
          <p:cNvSpPr>
            <a:spLocks noGrp="1"/>
          </p:cNvSpPr>
          <p:nvPr/>
        </p:nvSpPr>
        <p:spPr>
          <a:xfrm>
            <a:off x="5760720" y="59435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规则筛选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7817B4-24B6-4068-A55C-58342024C1B8}"/>
              </a:ext>
            </a:extLst>
          </p:cNvPr>
          <p:cNvSpPr>
            <a:spLocks noGrp="1"/>
          </p:cNvSpPr>
          <p:nvPr/>
        </p:nvSpPr>
        <p:spPr>
          <a:xfrm>
            <a:off x="5760720" y="9144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学历 / 经验 / 年龄 / 薪资 / 地点 / 必要条件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60499D5-803C-4981-87E5-DFE84189B98D}"/>
              </a:ext>
            </a:extLst>
          </p:cNvPr>
          <p:cNvSpPr>
            <a:spLocks noGrp="1"/>
          </p:cNvSpPr>
          <p:nvPr/>
        </p:nvSpPr>
        <p:spPr>
          <a:xfrm>
            <a:off x="5120640" y="1600200"/>
            <a:ext cx="457200" cy="45720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C2ABC2-4BF0-4F5C-9681-4680928B334F}"/>
              </a:ext>
            </a:extLst>
          </p:cNvPr>
          <p:cNvSpPr>
            <a:spLocks noGrp="1"/>
          </p:cNvSpPr>
          <p:nvPr/>
        </p:nvSpPr>
        <p:spPr>
          <a:xfrm>
            <a:off x="5760720" y="1554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技能评分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879541-CC5A-4C9E-85D4-2B6E9C374F0A}"/>
              </a:ext>
            </a:extLst>
          </p:cNvPr>
          <p:cNvSpPr>
            <a:spLocks noGrp="1"/>
          </p:cNvSpPr>
          <p:nvPr/>
        </p:nvSpPr>
        <p:spPr>
          <a:xfrm>
            <a:off x="5760720" y="187451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关键词权重匹配，四维模型打分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E6D9725-63E9-4030-930F-CBE402A88F9C}"/>
              </a:ext>
            </a:extLst>
          </p:cNvPr>
          <p:cNvSpPr>
            <a:spLocks noGrp="1"/>
          </p:cNvSpPr>
          <p:nvPr/>
        </p:nvSpPr>
        <p:spPr>
          <a:xfrm>
            <a:off x="5120640" y="2560320"/>
            <a:ext cx="457200" cy="45720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78B278-6365-465A-93CC-B2B9056E5EC3}"/>
              </a:ext>
            </a:extLst>
          </p:cNvPr>
          <p:cNvSpPr>
            <a:spLocks noGrp="1"/>
          </p:cNvSpPr>
          <p:nvPr/>
        </p:nvSpPr>
        <p:spPr>
          <a:xfrm>
            <a:off x="5760720" y="2514600"/>
            <a:ext cx="27432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AI/简历评估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865EA7-35F5-4CD6-AF59-8A9026250603}"/>
              </a:ext>
            </a:extLst>
          </p:cNvPr>
          <p:cNvSpPr>
            <a:spLocks noGrp="1"/>
          </p:cNvSpPr>
          <p:nvPr/>
        </p:nvSpPr>
        <p:spPr>
          <a:xfrm>
            <a:off x="5760720" y="283463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规则评分 + AI 调整 + 简历调整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9C1DB9A-8763-4629-9049-ED9232943392}"/>
              </a:ext>
            </a:extLst>
          </p:cNvPr>
          <p:cNvSpPr>
            <a:spLocks noGrp="1"/>
          </p:cNvSpPr>
          <p:nvPr/>
        </p:nvSpPr>
        <p:spPr>
          <a:xfrm>
            <a:off x="5120640" y="3520440"/>
            <a:ext cx="457200" cy="45720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7A6019-1A7B-42D8-8B0B-4A787482B1C5}"/>
              </a:ext>
            </a:extLst>
          </p:cNvPr>
          <p:cNvSpPr>
            <a:spLocks noGrp="1"/>
          </p:cNvSpPr>
          <p:nvPr/>
        </p:nvSpPr>
        <p:spPr>
          <a:xfrm>
            <a:off x="5760720" y="3474720"/>
            <a:ext cx="27432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安全扫描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9072B2-05BB-4D76-A7D6-EBC261482E0D}"/>
              </a:ext>
            </a:extLst>
          </p:cNvPr>
          <p:cNvSpPr>
            <a:spLocks noGrp="1"/>
          </p:cNvSpPr>
          <p:nvPr/>
        </p:nvSpPr>
        <p:spPr>
          <a:xfrm>
            <a:off x="5760720" y="37947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默认 listener + refresh，失败回退 DOM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71BA117-4C04-4659-9126-501D8276E1B3}"/>
              </a:ext>
            </a:extLst>
          </p:cNvPr>
          <p:cNvSpPr>
            <a:spLocks noGrp="1"/>
          </p:cNvSpPr>
          <p:nvPr/>
        </p:nvSpPr>
        <p:spPr>
          <a:xfrm>
            <a:off x="5120640" y="4480560"/>
            <a:ext cx="457200" cy="45720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40137A-6D9F-4D35-AA91-CA3741B069DE}"/>
              </a:ext>
            </a:extLst>
          </p:cNvPr>
          <p:cNvSpPr>
            <a:spLocks noGrp="1"/>
          </p:cNvSpPr>
          <p:nvPr/>
        </p:nvSpPr>
        <p:spPr>
          <a:xfrm>
            <a:off x="5760720" y="4434840"/>
            <a:ext cx="27432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黑名单/打招呼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6B966F1-35FB-4E0A-937D-90F7D62176E7}"/>
              </a:ext>
            </a:extLst>
          </p:cNvPr>
          <p:cNvSpPr>
            <a:spLocks noGrp="1"/>
          </p:cNvSpPr>
          <p:nvPr/>
        </p:nvSpPr>
        <p:spPr>
          <a:xfrm>
            <a:off x="5760720" y="4754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屏蔽重复候选人，按阈值沟通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FDE9F8F-46A2-4779-9B31-0108DB374C4A}"/>
              </a:ext>
            </a:extLst>
          </p:cNvPr>
          <p:cNvSpPr>
            <a:spLocks noGrp="1"/>
          </p:cNvSpPr>
          <p:nvPr/>
        </p:nvSpPr>
        <p:spPr>
          <a:xfrm>
            <a:off x="5120640" y="5440680"/>
            <a:ext cx="457200" cy="45720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C8480C-EE1B-4779-A4B3-B003D8793E5D}"/>
              </a:ext>
            </a:extLst>
          </p:cNvPr>
          <p:cNvSpPr>
            <a:spLocks noGrp="1"/>
          </p:cNvSpPr>
          <p:nvPr/>
        </p:nvSpPr>
        <p:spPr>
          <a:xfrm>
            <a:off x="5760720" y="5394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导出统计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D42CE4-95C3-4606-8FA6-C609D9F77AC7}"/>
              </a:ext>
            </a:extLst>
          </p:cNvPr>
          <p:cNvSpPr>
            <a:spLocks noGrp="1"/>
          </p:cNvSpPr>
          <p:nvPr/>
        </p:nvSpPr>
        <p:spPr>
          <a:xfrm>
            <a:off x="5760720" y="57150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Excel 导出 + 跟进转化统计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CB19FD9-743D-4EAC-9144-DA51DE711E2F}"/>
              </a:ext>
            </a:extLst>
          </p:cNvPr>
          <p:cNvSpPr>
            <a:spLocks noGrp="1"/>
          </p:cNvSpPr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2 / 15</a:t>
            </a:r>
          </a:p>
        </p:txBody>
      </p:sp>
    </p:spTree>
    <p:extLst>
      <p:ext uri="{BB962C8B-B14F-4D97-AF65-F5344CB8AC3E}">
        <p14:creationId xmlns:p14="http://schemas.microsoft.com/office/powerpoint/2010/main" val="5529830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FABF213-5A48-4633-8B19-7E50EE95F50D}"/>
              </a:ext>
            </a:extLst>
          </p:cNvPr>
          <p:cNvSpPr>
            <a:spLocks noGrp="1"/>
          </p:cNvSpPr>
          <p:nvPr/>
        </p:nvSpPr>
        <p:spPr>
          <a:xfrm>
            <a:off x="731520" y="548640"/>
            <a:ext cx="73152" cy="4572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36705D-FEA3-4B48-809A-A8C098F1DAA0}"/>
              </a:ext>
            </a:extLst>
          </p:cNvPr>
          <p:cNvSpPr>
            <a:spLocks noGrp="1"/>
          </p:cNvSpPr>
          <p:nvPr/>
        </p:nvSpPr>
        <p:spPr>
          <a:xfrm>
            <a:off x="1005840" y="502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3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工作流程全景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EE09C2-4269-4FDC-816D-DA1CB512494F}"/>
              </a:ext>
            </a:extLst>
          </p:cNvPr>
          <p:cNvSpPr>
            <a:spLocks noGrp="1"/>
          </p:cNvSpPr>
          <p:nvPr/>
        </p:nvSpPr>
        <p:spPr>
          <a:xfrm>
            <a:off x="1005840" y="10058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从配置到导出，7 步完成完整筛选流程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DC2E323-10FD-4580-AE5B-C895E76C3D55}"/>
              </a:ext>
            </a:extLst>
          </p:cNvPr>
          <p:cNvSpPr>
            <a:spLocks noGrp="1"/>
          </p:cNvSpPr>
          <p:nvPr/>
        </p:nvSpPr>
        <p:spPr>
          <a:xfrm>
            <a:off x="457200" y="2011680"/>
            <a:ext cx="146304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FA3BD6-C86B-49D1-95B6-47B231980FAE}"/>
              </a:ext>
            </a:extLst>
          </p:cNvPr>
          <p:cNvSpPr>
            <a:spLocks noGrp="1"/>
          </p:cNvSpPr>
          <p:nvPr/>
        </p:nvSpPr>
        <p:spPr>
          <a:xfrm>
            <a:off x="457200" y="2011680"/>
            <a:ext cx="1463040" cy="73152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3405106-8F5B-44D3-9843-46E46C94B369}"/>
              </a:ext>
            </a:extLst>
          </p:cNvPr>
          <p:cNvSpPr>
            <a:spLocks noGrp="1"/>
          </p:cNvSpPr>
          <p:nvPr/>
        </p:nvSpPr>
        <p:spPr>
          <a:xfrm>
            <a:off x="960120" y="2286000"/>
            <a:ext cx="457200" cy="457200"/>
          </a:xfrm>
          <a:prstGeom prst="ellipse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F738F2-9148-4098-B386-2697E4975567}"/>
              </a:ext>
            </a:extLst>
          </p:cNvPr>
          <p:cNvSpPr>
            <a:spLocks noGrp="1"/>
          </p:cNvSpPr>
          <p:nvPr/>
        </p:nvSpPr>
        <p:spPr>
          <a:xfrm>
            <a:off x="548640" y="2926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4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启动系统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21B13C-D1F5-4146-9CE6-1A509F16FD9E}"/>
              </a:ext>
            </a:extLst>
          </p:cNvPr>
          <p:cNvSpPr>
            <a:spLocks noGrp="1"/>
          </p:cNvSpPr>
          <p:nvPr/>
        </p:nvSpPr>
        <p:spPr>
          <a:xfrm>
            <a:off x="548640" y="3383280"/>
            <a:ext cx="1280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双击打开程序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9C9A9E-3387-4794-A809-37F4EC47CA25}"/>
              </a:ext>
            </a:extLst>
          </p:cNvPr>
          <p:cNvSpPr>
            <a:spLocks noGrp="1"/>
          </p:cNvSpPr>
          <p:nvPr/>
        </p:nvSpPr>
        <p:spPr>
          <a:xfrm>
            <a:off x="1938528" y="32004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800" b="1" i="0">
                <a:solidFill>
                  <a:srgbClr val="E8652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2B72244-57EB-45F6-ACD0-81D04A354156}"/>
              </a:ext>
            </a:extLst>
          </p:cNvPr>
          <p:cNvSpPr>
            <a:spLocks noGrp="1"/>
          </p:cNvSpPr>
          <p:nvPr/>
        </p:nvSpPr>
        <p:spPr>
          <a:xfrm>
            <a:off x="2121408" y="2011680"/>
            <a:ext cx="146304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E4A5FE-F950-4859-A2A8-62774794FDE7}"/>
              </a:ext>
            </a:extLst>
          </p:cNvPr>
          <p:cNvSpPr>
            <a:spLocks noGrp="1"/>
          </p:cNvSpPr>
          <p:nvPr/>
        </p:nvSpPr>
        <p:spPr>
          <a:xfrm>
            <a:off x="2121408" y="2011680"/>
            <a:ext cx="1463040" cy="73152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6C5C127-0BF7-47F0-9753-DEF934C15FD7}"/>
              </a:ext>
            </a:extLst>
          </p:cNvPr>
          <p:cNvSpPr>
            <a:spLocks noGrp="1"/>
          </p:cNvSpPr>
          <p:nvPr/>
        </p:nvSpPr>
        <p:spPr>
          <a:xfrm>
            <a:off x="2624328" y="2286000"/>
            <a:ext cx="457200" cy="457200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0F007A-E0A8-47BD-BCB9-D861C8393D62}"/>
              </a:ext>
            </a:extLst>
          </p:cNvPr>
          <p:cNvSpPr>
            <a:spLocks noGrp="1"/>
          </p:cNvSpPr>
          <p:nvPr/>
        </p:nvSpPr>
        <p:spPr>
          <a:xfrm>
            <a:off x="2212848" y="2926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4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配置岗位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D89A2B-CDEA-4A75-BDF0-25DFE4EA19BE}"/>
              </a:ext>
            </a:extLst>
          </p:cNvPr>
          <p:cNvSpPr>
            <a:spLocks noGrp="1"/>
          </p:cNvSpPr>
          <p:nvPr/>
        </p:nvSpPr>
        <p:spPr>
          <a:xfrm>
            <a:off x="2212848" y="3383280"/>
            <a:ext cx="1280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新建岗位规则
或解析 JD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DFA54D-7477-48E4-8B6A-B2FF1D1D9696}"/>
              </a:ext>
            </a:extLst>
          </p:cNvPr>
          <p:cNvSpPr>
            <a:spLocks noGrp="1"/>
          </p:cNvSpPr>
          <p:nvPr/>
        </p:nvSpPr>
        <p:spPr>
          <a:xfrm>
            <a:off x="3602736" y="32004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800" b="1" i="0">
                <a:solidFill>
                  <a:srgbClr val="E8652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F94BBA6-2186-460F-8900-76D8DAA75585}"/>
              </a:ext>
            </a:extLst>
          </p:cNvPr>
          <p:cNvSpPr>
            <a:spLocks noGrp="1"/>
          </p:cNvSpPr>
          <p:nvPr/>
        </p:nvSpPr>
        <p:spPr>
          <a:xfrm>
            <a:off x="3785616" y="2011680"/>
            <a:ext cx="146304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2E14A2-C225-4FAB-A9B4-FC174F6C6F9B}"/>
              </a:ext>
            </a:extLst>
          </p:cNvPr>
          <p:cNvSpPr>
            <a:spLocks noGrp="1"/>
          </p:cNvSpPr>
          <p:nvPr/>
        </p:nvSpPr>
        <p:spPr>
          <a:xfrm>
            <a:off x="3785616" y="2011680"/>
            <a:ext cx="1463040" cy="73152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D119054-0DE4-488A-B016-DED9D5C036C6}"/>
              </a:ext>
            </a:extLst>
          </p:cNvPr>
          <p:cNvSpPr>
            <a:spLocks noGrp="1"/>
          </p:cNvSpPr>
          <p:nvPr/>
        </p:nvSpPr>
        <p:spPr>
          <a:xfrm>
            <a:off x="4288536" y="2286000"/>
            <a:ext cx="457200" cy="45720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4AFAF0-84CD-49DB-9A5C-2A8857C328A0}"/>
              </a:ext>
            </a:extLst>
          </p:cNvPr>
          <p:cNvSpPr>
            <a:spLocks noGrp="1"/>
          </p:cNvSpPr>
          <p:nvPr/>
        </p:nvSpPr>
        <p:spPr>
          <a:xfrm>
            <a:off x="3877056" y="2926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4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配置 AI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491220-C7EB-41F9-B15A-03E3C537FF13}"/>
              </a:ext>
            </a:extLst>
          </p:cNvPr>
          <p:cNvSpPr>
            <a:spLocks noGrp="1"/>
          </p:cNvSpPr>
          <p:nvPr/>
        </p:nvSpPr>
        <p:spPr>
          <a:xfrm>
            <a:off x="3877056" y="3383280"/>
            <a:ext cx="1280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可选
配置大模型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DC041A8-C3ED-40E6-AB04-ECA3EB21C819}"/>
              </a:ext>
            </a:extLst>
          </p:cNvPr>
          <p:cNvSpPr>
            <a:spLocks noGrp="1"/>
          </p:cNvSpPr>
          <p:nvPr/>
        </p:nvSpPr>
        <p:spPr>
          <a:xfrm>
            <a:off x="5266944" y="32004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800" b="1" i="0">
                <a:solidFill>
                  <a:srgbClr val="E8652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D24AAAC7-01C6-405E-AAB3-963E68369D69}"/>
              </a:ext>
            </a:extLst>
          </p:cNvPr>
          <p:cNvSpPr>
            <a:spLocks noGrp="1"/>
          </p:cNvSpPr>
          <p:nvPr/>
        </p:nvSpPr>
        <p:spPr>
          <a:xfrm>
            <a:off x="5449824" y="2011680"/>
            <a:ext cx="146304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B72BBD7-DADF-4CF9-AEA8-3003726539EA}"/>
              </a:ext>
            </a:extLst>
          </p:cNvPr>
          <p:cNvSpPr>
            <a:spLocks noGrp="1"/>
          </p:cNvSpPr>
          <p:nvPr/>
        </p:nvSpPr>
        <p:spPr>
          <a:xfrm>
            <a:off x="5449824" y="2011680"/>
            <a:ext cx="1463040" cy="73152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E2D9E28-4A3C-490C-B7A9-3C275197C18E}"/>
              </a:ext>
            </a:extLst>
          </p:cNvPr>
          <p:cNvSpPr>
            <a:spLocks noGrp="1"/>
          </p:cNvSpPr>
          <p:nvPr/>
        </p:nvSpPr>
        <p:spPr>
          <a:xfrm>
            <a:off x="5952744" y="2286000"/>
            <a:ext cx="457200" cy="45720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F5871A-C17F-4D4A-9222-08D44D730439}"/>
              </a:ext>
            </a:extLst>
          </p:cNvPr>
          <p:cNvSpPr>
            <a:spLocks noGrp="1"/>
          </p:cNvSpPr>
          <p:nvPr/>
        </p:nvSpPr>
        <p:spPr>
          <a:xfrm>
            <a:off x="5541264" y="2926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4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连接浏览器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285BCB8-B81D-4B98-A892-D7AC37FE002D}"/>
              </a:ext>
            </a:extLst>
          </p:cNvPr>
          <p:cNvSpPr>
            <a:spLocks noGrp="1"/>
          </p:cNvSpPr>
          <p:nvPr/>
        </p:nvSpPr>
        <p:spPr>
          <a:xfrm>
            <a:off x="5541264" y="3383280"/>
            <a:ext cx="1280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连接 Chrome
打开推荐页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F70E84E-CD07-40B4-8470-CC5AB44B9F73}"/>
              </a:ext>
            </a:extLst>
          </p:cNvPr>
          <p:cNvSpPr>
            <a:spLocks noGrp="1"/>
          </p:cNvSpPr>
          <p:nvPr/>
        </p:nvSpPr>
        <p:spPr>
          <a:xfrm>
            <a:off x="6931152" y="32004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800" b="1" i="0">
                <a:solidFill>
                  <a:srgbClr val="E8652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D64A1BA0-2910-4DE1-8F4C-5E9E54FB71D4}"/>
              </a:ext>
            </a:extLst>
          </p:cNvPr>
          <p:cNvSpPr>
            <a:spLocks noGrp="1"/>
          </p:cNvSpPr>
          <p:nvPr/>
        </p:nvSpPr>
        <p:spPr>
          <a:xfrm>
            <a:off x="7114032" y="2011680"/>
            <a:ext cx="146304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7721825-631C-487F-B060-324869A48D55}"/>
              </a:ext>
            </a:extLst>
          </p:cNvPr>
          <p:cNvSpPr>
            <a:spLocks noGrp="1"/>
          </p:cNvSpPr>
          <p:nvPr/>
        </p:nvSpPr>
        <p:spPr>
          <a:xfrm>
            <a:off x="7114032" y="2011680"/>
            <a:ext cx="1463040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C4A7753E-B7CA-4602-A498-85FA9091D06C}"/>
              </a:ext>
            </a:extLst>
          </p:cNvPr>
          <p:cNvSpPr>
            <a:spLocks noGrp="1"/>
          </p:cNvSpPr>
          <p:nvPr/>
        </p:nvSpPr>
        <p:spPr>
          <a:xfrm>
            <a:off x="7616952" y="2286000"/>
            <a:ext cx="457200" cy="4572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8A0CE1D-A37E-48DB-9F93-F285D779B302}"/>
              </a:ext>
            </a:extLst>
          </p:cNvPr>
          <p:cNvSpPr>
            <a:spLocks noGrp="1"/>
          </p:cNvSpPr>
          <p:nvPr/>
        </p:nvSpPr>
        <p:spPr>
          <a:xfrm>
            <a:off x="7205472" y="2926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4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运行筛选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31C0750-D6B0-49BC-8FB2-87C47A4A4223}"/>
              </a:ext>
            </a:extLst>
          </p:cNvPr>
          <p:cNvSpPr>
            <a:spLocks noGrp="1"/>
          </p:cNvSpPr>
          <p:nvPr/>
        </p:nvSpPr>
        <p:spPr>
          <a:xfrm>
            <a:off x="7205472" y="3383280"/>
            <a:ext cx="128016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000" b="0" i="0" dirty="0" err="1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安全扫描</a:t>
            </a:r>
            <a:endParaRPr lang="en-US" sz="1000" b="0" i="0" dirty="0">
              <a:solidFill>
                <a:srgbClr val="6B7B8D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buNone/>
            </a:pPr>
            <a:r>
              <a:rPr lang="en-US" sz="1000" dirty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+</a:t>
            </a:r>
          </a:p>
          <a:p>
            <a:pPr algn="ctr">
              <a:buNone/>
            </a:pPr>
            <a:r>
              <a:rPr lang="zh-CN" altLang="en-US" sz="1000" b="0" i="0" dirty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规则评分</a:t>
            </a:r>
            <a:endParaRPr lang="en-US" altLang="zh-CN" sz="1000" b="0" i="0" dirty="0">
              <a:solidFill>
                <a:srgbClr val="6B7B8D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buNone/>
            </a:pPr>
            <a:r>
              <a:rPr lang="en-US" sz="1000" dirty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+</a:t>
            </a:r>
            <a:endParaRPr sz="1000" b="0" i="0" dirty="0">
              <a:solidFill>
                <a:srgbClr val="6B7B8D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buNone/>
            </a:pPr>
            <a:r>
              <a:rPr lang="en-US" altLang="zh-CN" sz="1000" b="0" i="0" dirty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AI</a:t>
            </a:r>
            <a:r>
              <a:rPr lang="zh-CN" altLang="en-US" sz="1000" b="0" i="0" dirty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二次</a:t>
            </a:r>
            <a:r>
              <a:rPr sz="1000" b="0" i="0" dirty="0" err="1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评分</a:t>
            </a:r>
            <a:endParaRPr lang="en-US" sz="1000" b="0" i="0" dirty="0">
              <a:solidFill>
                <a:srgbClr val="6B7B8D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buNone/>
            </a:pPr>
            <a:r>
              <a:rPr lang="en-US" sz="1000" dirty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+</a:t>
            </a:r>
          </a:p>
          <a:p>
            <a:pPr algn="ctr">
              <a:buNone/>
            </a:pPr>
            <a:r>
              <a:rPr lang="zh-CN" altLang="en-US" sz="1000" dirty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自动打招呼</a:t>
            </a:r>
            <a:endParaRPr sz="1000" b="0" i="0" dirty="0">
              <a:solidFill>
                <a:srgbClr val="6B7B8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BC344C-5BDF-4FC0-B881-C69CC3C6BCBC}"/>
              </a:ext>
            </a:extLst>
          </p:cNvPr>
          <p:cNvSpPr>
            <a:spLocks noGrp="1"/>
          </p:cNvSpPr>
          <p:nvPr/>
        </p:nvSpPr>
        <p:spPr>
          <a:xfrm>
            <a:off x="8595360" y="32004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800" b="1" i="0">
                <a:solidFill>
                  <a:srgbClr val="E8652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4EBC9CA6-E4BB-4FA3-8968-80B244B1B1FB}"/>
              </a:ext>
            </a:extLst>
          </p:cNvPr>
          <p:cNvSpPr>
            <a:spLocks noGrp="1"/>
          </p:cNvSpPr>
          <p:nvPr/>
        </p:nvSpPr>
        <p:spPr>
          <a:xfrm>
            <a:off x="8778240" y="2011680"/>
            <a:ext cx="146304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E4C3AA0-6F20-4CC3-A3A1-D73A27702480}"/>
              </a:ext>
            </a:extLst>
          </p:cNvPr>
          <p:cNvSpPr>
            <a:spLocks noGrp="1"/>
          </p:cNvSpPr>
          <p:nvPr/>
        </p:nvSpPr>
        <p:spPr>
          <a:xfrm>
            <a:off x="8778240" y="2011680"/>
            <a:ext cx="1463040" cy="73152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1CD32C8-5D48-4957-9A62-266C9C42B3B9}"/>
              </a:ext>
            </a:extLst>
          </p:cNvPr>
          <p:cNvSpPr>
            <a:spLocks noGrp="1"/>
          </p:cNvSpPr>
          <p:nvPr/>
        </p:nvSpPr>
        <p:spPr>
          <a:xfrm>
            <a:off x="9281160" y="2286000"/>
            <a:ext cx="457200" cy="457200"/>
          </a:xfrm>
          <a:prstGeom prst="ellipse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41E9FE4-199A-4CD9-B77F-9DFB7AF1D6CC}"/>
              </a:ext>
            </a:extLst>
          </p:cNvPr>
          <p:cNvSpPr>
            <a:spLocks noGrp="1"/>
          </p:cNvSpPr>
          <p:nvPr/>
        </p:nvSpPr>
        <p:spPr>
          <a:xfrm>
            <a:off x="8869680" y="2926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4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查看结果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DE25547-06E3-4473-A869-8798F8E00286}"/>
              </a:ext>
            </a:extLst>
          </p:cNvPr>
          <p:cNvSpPr>
            <a:spLocks noGrp="1"/>
          </p:cNvSpPr>
          <p:nvPr/>
        </p:nvSpPr>
        <p:spPr>
          <a:xfrm>
            <a:off x="8869680" y="3383280"/>
            <a:ext cx="1280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黑名单/简历</a:t>
            </a:r>
          </a:p>
          <a:p>
            <a:pPr algn="ct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跟进反馈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543B497-BA51-456B-B0D0-904C0428F4DB}"/>
              </a:ext>
            </a:extLst>
          </p:cNvPr>
          <p:cNvSpPr>
            <a:spLocks noGrp="1"/>
          </p:cNvSpPr>
          <p:nvPr/>
        </p:nvSpPr>
        <p:spPr>
          <a:xfrm>
            <a:off x="10259567" y="320040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800" b="1" i="0">
                <a:solidFill>
                  <a:srgbClr val="E8652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61CECCB3-3CD4-4AC4-A3FF-BE59CF9F0396}"/>
              </a:ext>
            </a:extLst>
          </p:cNvPr>
          <p:cNvSpPr>
            <a:spLocks noGrp="1"/>
          </p:cNvSpPr>
          <p:nvPr/>
        </p:nvSpPr>
        <p:spPr>
          <a:xfrm>
            <a:off x="10442448" y="2011680"/>
            <a:ext cx="146304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DBD232E-E186-4235-B9FB-577937A04EB1}"/>
              </a:ext>
            </a:extLst>
          </p:cNvPr>
          <p:cNvSpPr>
            <a:spLocks noGrp="1"/>
          </p:cNvSpPr>
          <p:nvPr/>
        </p:nvSpPr>
        <p:spPr>
          <a:xfrm>
            <a:off x="10442448" y="2011680"/>
            <a:ext cx="1463040" cy="73152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239AEB1B-967C-4D16-8D4D-1C08E98F75F4}"/>
              </a:ext>
            </a:extLst>
          </p:cNvPr>
          <p:cNvSpPr>
            <a:spLocks noGrp="1"/>
          </p:cNvSpPr>
          <p:nvPr/>
        </p:nvSpPr>
        <p:spPr>
          <a:xfrm>
            <a:off x="10945368" y="2286000"/>
            <a:ext cx="457200" cy="457200"/>
          </a:xfrm>
          <a:prstGeom prst="ellipse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E489BF-FCA1-4953-BEE2-03922D685383}"/>
              </a:ext>
            </a:extLst>
          </p:cNvPr>
          <p:cNvSpPr>
            <a:spLocks noGrp="1"/>
          </p:cNvSpPr>
          <p:nvPr/>
        </p:nvSpPr>
        <p:spPr>
          <a:xfrm>
            <a:off x="10533888" y="2926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4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导出/统计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DF4672C-2006-4014-9DB6-59BDF017C6BB}"/>
              </a:ext>
            </a:extLst>
          </p:cNvPr>
          <p:cNvSpPr>
            <a:spLocks noGrp="1"/>
          </p:cNvSpPr>
          <p:nvPr/>
        </p:nvSpPr>
        <p:spPr>
          <a:xfrm>
            <a:off x="10533888" y="3383280"/>
            <a:ext cx="1280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Excel 导出
数据统计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663DCB4-288E-4034-96F2-0ADF0BB945B3}"/>
              </a:ext>
            </a:extLst>
          </p:cNvPr>
          <p:cNvSpPr>
            <a:spLocks noGrp="1"/>
          </p:cNvSpPr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3 / 15</a:t>
            </a:r>
          </a:p>
        </p:txBody>
      </p:sp>
    </p:spTree>
    <p:extLst>
      <p:ext uri="{BB962C8B-B14F-4D97-AF65-F5344CB8AC3E}">
        <p14:creationId xmlns:p14="http://schemas.microsoft.com/office/powerpoint/2010/main" val="599129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B99138-E2E5-4257-838F-8AFDA5BDBA00}"/>
              </a:ext>
            </a:extLst>
          </p:cNvPr>
          <p:cNvSpPr>
            <a:spLocks noGrp="1"/>
          </p:cNvSpPr>
          <p:nvPr/>
        </p:nvSpPr>
        <p:spPr>
          <a:xfrm>
            <a:off x="731520" y="548640"/>
            <a:ext cx="73152" cy="4572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46236-27AA-4739-A6D2-D9D8DB727B6A}"/>
              </a:ext>
            </a:extLst>
          </p:cNvPr>
          <p:cNvSpPr>
            <a:spLocks noGrp="1"/>
          </p:cNvSpPr>
          <p:nvPr/>
        </p:nvSpPr>
        <p:spPr>
          <a:xfrm>
            <a:off x="1005840" y="502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3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主界面导航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8C5C96-B51C-4765-A43D-D954A1D08FF4}"/>
              </a:ext>
            </a:extLst>
          </p:cNvPr>
          <p:cNvSpPr>
            <a:spLocks noGrp="1"/>
          </p:cNvSpPr>
          <p:nvPr/>
        </p:nvSpPr>
        <p:spPr>
          <a:xfrm>
            <a:off x="1005840" y="10058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左侧固定导航栏 + 右侧内容区，6 个功能模块覆盖全流程</a:t>
            </a:r>
          </a:p>
        </p:txBody>
      </p:sp>
      <p:pic>
        <p:nvPicPr>
          <p:cNvPr id="31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1520" y="1645920"/>
            <a:ext cx="5029200" cy="290099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FCB8884-0415-4A88-8DB9-FA6273B44898}"/>
              </a:ext>
            </a:extLst>
          </p:cNvPr>
          <p:cNvSpPr>
            <a:spLocks noGrp="1"/>
          </p:cNvSpPr>
          <p:nvPr/>
        </p:nvSpPr>
        <p:spPr>
          <a:xfrm>
            <a:off x="6217920" y="1737360"/>
            <a:ext cx="54864" cy="54864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22705B-DE94-46B9-A61B-6998F4FB3B95}"/>
              </a:ext>
            </a:extLst>
          </p:cNvPr>
          <p:cNvSpPr>
            <a:spLocks noGrp="1"/>
          </p:cNvSpPr>
          <p:nvPr/>
        </p:nvSpPr>
        <p:spPr>
          <a:xfrm>
            <a:off x="6492240" y="16916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首页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5C881-1126-47E9-9C47-229032550C77}"/>
              </a:ext>
            </a:extLst>
          </p:cNvPr>
          <p:cNvSpPr>
            <a:spLocks noGrp="1"/>
          </p:cNvSpPr>
          <p:nvPr/>
        </p:nvSpPr>
        <p:spPr>
          <a:xfrm>
            <a:off x="6492240" y="201167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全局统计 + 快捷入口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6107C0-D532-42D9-B56E-AAEF1913FB58}"/>
              </a:ext>
            </a:extLst>
          </p:cNvPr>
          <p:cNvSpPr>
            <a:spLocks noGrp="1"/>
          </p:cNvSpPr>
          <p:nvPr/>
        </p:nvSpPr>
        <p:spPr>
          <a:xfrm>
            <a:off x="6217920" y="2514600"/>
            <a:ext cx="54864" cy="54864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44CA3C-9D4A-4251-9BCE-55C9CE88FC8E}"/>
              </a:ext>
            </a:extLst>
          </p:cNvPr>
          <p:cNvSpPr>
            <a:spLocks noGrp="1"/>
          </p:cNvSpPr>
          <p:nvPr/>
        </p:nvSpPr>
        <p:spPr>
          <a:xfrm>
            <a:off x="6492240" y="2468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岗位配置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9831CD-F4C0-4AEF-A6D6-B25BA0E35324}"/>
              </a:ext>
            </a:extLst>
          </p:cNvPr>
          <p:cNvSpPr>
            <a:spLocks noGrp="1"/>
          </p:cNvSpPr>
          <p:nvPr/>
        </p:nvSpPr>
        <p:spPr>
          <a:xfrm>
            <a:off x="6492240" y="2788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新建/修改/导入/导出规则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DCA59E-2172-48FF-BDB3-B7AFBC43D1C1}"/>
              </a:ext>
            </a:extLst>
          </p:cNvPr>
          <p:cNvSpPr>
            <a:spLocks noGrp="1"/>
          </p:cNvSpPr>
          <p:nvPr/>
        </p:nvSpPr>
        <p:spPr>
          <a:xfrm>
            <a:off x="6217920" y="3291839"/>
            <a:ext cx="54864" cy="54864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A4CBA1-3F01-4F91-A206-0B7999C49425}"/>
              </a:ext>
            </a:extLst>
          </p:cNvPr>
          <p:cNvSpPr>
            <a:spLocks noGrp="1"/>
          </p:cNvSpPr>
          <p:nvPr/>
        </p:nvSpPr>
        <p:spPr>
          <a:xfrm>
            <a:off x="6492240" y="3246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运行控制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86EF09-6DC3-40DA-9C5F-89ACB1864FED}"/>
              </a:ext>
            </a:extLst>
          </p:cNvPr>
          <p:cNvSpPr>
            <a:spLocks noGrp="1"/>
          </p:cNvSpPr>
          <p:nvPr/>
        </p:nvSpPr>
        <p:spPr>
          <a:xfrm>
            <a:off x="6492240" y="356615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连接浏览器 + 运行参数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67B343-E4D1-41DB-958B-E7390DA90B31}"/>
              </a:ext>
            </a:extLst>
          </p:cNvPr>
          <p:cNvSpPr>
            <a:spLocks noGrp="1"/>
          </p:cNvSpPr>
          <p:nvPr/>
        </p:nvSpPr>
        <p:spPr>
          <a:xfrm>
            <a:off x="6217920" y="4069079"/>
            <a:ext cx="54864" cy="5486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257E31-C0A8-4953-9DFE-86C4FB47FDC9}"/>
              </a:ext>
            </a:extLst>
          </p:cNvPr>
          <p:cNvSpPr>
            <a:spLocks noGrp="1"/>
          </p:cNvSpPr>
          <p:nvPr/>
        </p:nvSpPr>
        <p:spPr>
          <a:xfrm>
            <a:off x="6492240" y="40233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筛选结果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6C43BC-E036-4703-A568-7F3A5D156920}"/>
              </a:ext>
            </a:extLst>
          </p:cNvPr>
          <p:cNvSpPr>
            <a:spLocks noGrp="1"/>
          </p:cNvSpPr>
          <p:nvPr/>
        </p:nvSpPr>
        <p:spPr>
          <a:xfrm>
            <a:off x="6492240" y="434339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候选人列表 + 右键操作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D283036-BFEA-4922-BDF1-6F8074F2E84A}"/>
              </a:ext>
            </a:extLst>
          </p:cNvPr>
          <p:cNvSpPr>
            <a:spLocks noGrp="1"/>
          </p:cNvSpPr>
          <p:nvPr/>
        </p:nvSpPr>
        <p:spPr>
          <a:xfrm>
            <a:off x="6217920" y="4846320"/>
            <a:ext cx="54864" cy="54864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A90AAC5-5B6B-4FC8-992C-C8B46CFF96D7}"/>
              </a:ext>
            </a:extLst>
          </p:cNvPr>
          <p:cNvSpPr>
            <a:spLocks noGrp="1"/>
          </p:cNvSpPr>
          <p:nvPr/>
        </p:nvSpPr>
        <p:spPr>
          <a:xfrm>
            <a:off x="6492240" y="4800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数据统计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B34323-FE52-4797-85D1-DD23EDC336F8}"/>
              </a:ext>
            </a:extLst>
          </p:cNvPr>
          <p:cNvSpPr>
            <a:spLocks noGrp="1"/>
          </p:cNvSpPr>
          <p:nvPr/>
        </p:nvSpPr>
        <p:spPr>
          <a:xfrm>
            <a:off x="6492240" y="5120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按岗位/时间统计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B9B0214-D55F-4135-B6C4-C6CD3C26CE6A}"/>
              </a:ext>
            </a:extLst>
          </p:cNvPr>
          <p:cNvSpPr>
            <a:spLocks noGrp="1"/>
          </p:cNvSpPr>
          <p:nvPr/>
        </p:nvSpPr>
        <p:spPr>
          <a:xfrm>
            <a:off x="6217920" y="5623560"/>
            <a:ext cx="54864" cy="548640"/>
          </a:xfrm>
          <a:prstGeom prst="rect">
            <a:avLst/>
          </a:prstGeom>
          <a:solidFill>
            <a:srgbClr val="6B7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C4AE7B-CA51-4887-8BCD-BE16E5E35EF7}"/>
              </a:ext>
            </a:extLst>
          </p:cNvPr>
          <p:cNvSpPr>
            <a:spLocks noGrp="1"/>
          </p:cNvSpPr>
          <p:nvPr/>
        </p:nvSpPr>
        <p:spPr>
          <a:xfrm>
            <a:off x="6492240" y="5577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系统设置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BDCCFEC-9BD6-4AB2-837F-E1C97AA1FDF4}"/>
              </a:ext>
            </a:extLst>
          </p:cNvPr>
          <p:cNvSpPr>
            <a:spLocks noGrp="1"/>
          </p:cNvSpPr>
          <p:nvPr/>
        </p:nvSpPr>
        <p:spPr>
          <a:xfrm>
            <a:off x="6492240" y="5897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AI 服务商 + API Key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5E1F98B2-EB85-4572-8C05-ECDE669896E4}"/>
              </a:ext>
            </a:extLst>
          </p:cNvPr>
          <p:cNvSpPr>
            <a:spLocks noGrp="1"/>
          </p:cNvSpPr>
          <p:nvPr/>
        </p:nvSpPr>
        <p:spPr>
          <a:xfrm>
            <a:off x="6217920" y="6217920"/>
            <a:ext cx="5303520" cy="45720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D5794F-D779-4F77-8D87-B94F2184A8B7}"/>
              </a:ext>
            </a:extLst>
          </p:cNvPr>
          <p:cNvSpPr>
            <a:spLocks noGrp="1"/>
          </p:cNvSpPr>
          <p:nvPr/>
        </p:nvSpPr>
        <p:spPr>
          <a:xfrm>
            <a:off x="6400800" y="6263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💡 使用顺序：岗位配置 → 系统设置 → 运行控制 → 筛选结果 → 数据统计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FA38C40-3729-43F0-8ACD-34F7967ABFC3}"/>
              </a:ext>
            </a:extLst>
          </p:cNvPr>
          <p:cNvSpPr>
            <a:spLocks noGrp="1"/>
          </p:cNvSpPr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4 / 15</a:t>
            </a:r>
          </a:p>
        </p:txBody>
      </p:sp>
    </p:spTree>
    <p:extLst>
      <p:ext uri="{BB962C8B-B14F-4D97-AF65-F5344CB8AC3E}">
        <p14:creationId xmlns:p14="http://schemas.microsoft.com/office/powerpoint/2010/main" val="20432796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ED52725-90FF-428A-A4F2-BA5689A866FC}"/>
              </a:ext>
            </a:extLst>
          </p:cNvPr>
          <p:cNvSpPr>
            <a:spLocks noGrp="1"/>
          </p:cNvSpPr>
          <p:nvPr/>
        </p:nvSpPr>
        <p:spPr>
          <a:xfrm>
            <a:off x="731520" y="548640"/>
            <a:ext cx="73152" cy="4572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114506-53C3-4CC4-B58F-72C5943C1BD3}"/>
              </a:ext>
            </a:extLst>
          </p:cNvPr>
          <p:cNvSpPr>
            <a:spLocks noGrp="1"/>
          </p:cNvSpPr>
          <p:nvPr/>
        </p:nvSpPr>
        <p:spPr>
          <a:xfrm>
            <a:off x="1005840" y="502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3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岗位配置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EEF9E7-7595-4FDC-947F-FE7FB1EE74B6}"/>
              </a:ext>
            </a:extLst>
          </p:cNvPr>
          <p:cNvSpPr>
            <a:spLocks noGrp="1"/>
          </p:cNvSpPr>
          <p:nvPr/>
        </p:nvSpPr>
        <p:spPr>
          <a:xfrm>
            <a:off x="100584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岗位规则直接决定候选人是否被淘汰，尤其是必要条件和工作地点</a:t>
            </a:r>
          </a:p>
        </p:txBody>
      </p:sp>
      <p:pic>
        <p:nvPicPr>
          <p:cNvPr id="38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212400" y="1320840"/>
            <a:ext cx="2667840" cy="5544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02EC52F-5177-49E3-8F27-8302314F8F38}"/>
              </a:ext>
            </a:extLst>
          </p:cNvPr>
          <p:cNvSpPr>
            <a:spLocks noGrp="1"/>
          </p:cNvSpPr>
          <p:nvPr/>
        </p:nvSpPr>
        <p:spPr>
          <a:xfrm>
            <a:off x="6858000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核心字段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5A3DBA2-0084-487E-BE4D-26E6C018C919}"/>
              </a:ext>
            </a:extLst>
          </p:cNvPr>
          <p:cNvSpPr>
            <a:spLocks noGrp="1"/>
          </p:cNvSpPr>
          <p:nvPr/>
        </p:nvSpPr>
        <p:spPr>
          <a:xfrm>
            <a:off x="6858000" y="2148839"/>
            <a:ext cx="137160" cy="137160"/>
          </a:xfrm>
          <a:prstGeom prst="ellipse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0EC8EF-C817-48FC-BF46-7467BE21E537}"/>
              </a:ext>
            </a:extLst>
          </p:cNvPr>
          <p:cNvSpPr>
            <a:spLocks noGrp="1"/>
          </p:cNvSpPr>
          <p:nvPr/>
        </p:nvSpPr>
        <p:spPr>
          <a:xfrm>
            <a:off x="7132320" y="2057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岗位名称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30B160-05FD-4A30-A3C3-831CDB8F004E}"/>
              </a:ext>
            </a:extLst>
          </p:cNvPr>
          <p:cNvSpPr>
            <a:spLocks noGrp="1"/>
          </p:cNvSpPr>
          <p:nvPr/>
        </p:nvSpPr>
        <p:spPr>
          <a:xfrm>
            <a:off x="8778240" y="20574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当前岗位规则名称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9DC5C70-3DDC-442C-BAE8-5B9FE529802F}"/>
              </a:ext>
            </a:extLst>
          </p:cNvPr>
          <p:cNvSpPr>
            <a:spLocks noGrp="1"/>
          </p:cNvSpPr>
          <p:nvPr/>
        </p:nvSpPr>
        <p:spPr>
          <a:xfrm>
            <a:off x="6858000" y="2679191"/>
            <a:ext cx="137160" cy="137160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4BAC02-4428-48CF-9E71-B9EC63AA9AD3}"/>
              </a:ext>
            </a:extLst>
          </p:cNvPr>
          <p:cNvSpPr>
            <a:spLocks noGrp="1"/>
          </p:cNvSpPr>
          <p:nvPr/>
        </p:nvSpPr>
        <p:spPr>
          <a:xfrm>
            <a:off x="7132320" y="25877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最低学历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318512-1619-4EE3-815D-C68F31FA7351}"/>
              </a:ext>
            </a:extLst>
          </p:cNvPr>
          <p:cNvSpPr>
            <a:spLocks noGrp="1"/>
          </p:cNvSpPr>
          <p:nvPr/>
        </p:nvSpPr>
        <p:spPr>
          <a:xfrm>
            <a:off x="8778240" y="258775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低于该学历直接淘汰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606C734-A6AD-472D-8648-ED076921D62F}"/>
              </a:ext>
            </a:extLst>
          </p:cNvPr>
          <p:cNvSpPr>
            <a:spLocks noGrp="1"/>
          </p:cNvSpPr>
          <p:nvPr/>
        </p:nvSpPr>
        <p:spPr>
          <a:xfrm>
            <a:off x="6858000" y="3209544"/>
            <a:ext cx="137160" cy="137160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8B7892-36C8-44DB-8353-01AED386DB52}"/>
              </a:ext>
            </a:extLst>
          </p:cNvPr>
          <p:cNvSpPr>
            <a:spLocks noGrp="1"/>
          </p:cNvSpPr>
          <p:nvPr/>
        </p:nvSpPr>
        <p:spPr>
          <a:xfrm>
            <a:off x="7132320" y="311810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最低经验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1D0444-3AE5-4DC5-83CC-82AB05497B89}"/>
              </a:ext>
            </a:extLst>
          </p:cNvPr>
          <p:cNvSpPr>
            <a:spLocks noGrp="1"/>
          </p:cNvSpPr>
          <p:nvPr/>
        </p:nvSpPr>
        <p:spPr>
          <a:xfrm>
            <a:off x="8778240" y="3118104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工作年限不足直接淘汰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86D7707-CFF8-4229-A6C2-D10BBA7486A8}"/>
              </a:ext>
            </a:extLst>
          </p:cNvPr>
          <p:cNvSpPr>
            <a:spLocks noGrp="1"/>
          </p:cNvSpPr>
          <p:nvPr/>
        </p:nvSpPr>
        <p:spPr>
          <a:xfrm>
            <a:off x="6858000" y="3739895"/>
            <a:ext cx="137160" cy="13716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2D035B-748D-48D9-B3E9-DCD6BC5E38F4}"/>
              </a:ext>
            </a:extLst>
          </p:cNvPr>
          <p:cNvSpPr>
            <a:spLocks noGrp="1"/>
          </p:cNvSpPr>
          <p:nvPr/>
        </p:nvSpPr>
        <p:spPr>
          <a:xfrm>
            <a:off x="7132320" y="3648455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最大年龄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6DDB16-237B-4009-AFC8-EFC1ECA76ACD}"/>
              </a:ext>
            </a:extLst>
          </p:cNvPr>
          <p:cNvSpPr>
            <a:spLocks noGrp="1"/>
          </p:cNvSpPr>
          <p:nvPr/>
        </p:nvSpPr>
        <p:spPr>
          <a:xfrm>
            <a:off x="8778240" y="3648455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超过上限直接淘汰，留空不限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409DBF5-8816-43C3-ACB7-B8958321A08F}"/>
              </a:ext>
            </a:extLst>
          </p:cNvPr>
          <p:cNvSpPr>
            <a:spLocks noGrp="1"/>
          </p:cNvSpPr>
          <p:nvPr/>
        </p:nvSpPr>
        <p:spPr>
          <a:xfrm>
            <a:off x="6858000" y="4270247"/>
            <a:ext cx="137160" cy="13716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63E9C5-9C00-495E-832B-2C521C3FA730}"/>
              </a:ext>
            </a:extLst>
          </p:cNvPr>
          <p:cNvSpPr>
            <a:spLocks noGrp="1"/>
          </p:cNvSpPr>
          <p:nvPr/>
        </p:nvSpPr>
        <p:spPr>
          <a:xfrm>
            <a:off x="7132320" y="4178807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薪资范围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60123A-B08E-4727-B9A5-31311F82C2F6}"/>
              </a:ext>
            </a:extLst>
          </p:cNvPr>
          <p:cNvSpPr>
            <a:spLocks noGrp="1"/>
          </p:cNvSpPr>
          <p:nvPr/>
        </p:nvSpPr>
        <p:spPr>
          <a:xfrm>
            <a:off x="8778240" y="4178807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期望薪资明显超出预算时淘汰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0651D3E-1B94-4261-AC4B-0CCDA6D9E43B}"/>
              </a:ext>
            </a:extLst>
          </p:cNvPr>
          <p:cNvSpPr>
            <a:spLocks noGrp="1"/>
          </p:cNvSpPr>
          <p:nvPr/>
        </p:nvSpPr>
        <p:spPr>
          <a:xfrm>
            <a:off x="6858000" y="4800599"/>
            <a:ext cx="137160" cy="1371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82F65E-9673-43DB-AA66-A5337FB8278A}"/>
              </a:ext>
            </a:extLst>
          </p:cNvPr>
          <p:cNvSpPr>
            <a:spLocks noGrp="1"/>
          </p:cNvSpPr>
          <p:nvPr/>
        </p:nvSpPr>
        <p:spPr>
          <a:xfrm>
            <a:off x="7132320" y="470915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工作地点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421F44-C7AA-434B-8566-366A08DA6EFB}"/>
              </a:ext>
            </a:extLst>
          </p:cNvPr>
          <p:cNvSpPr>
            <a:spLocks noGrp="1"/>
          </p:cNvSpPr>
          <p:nvPr/>
        </p:nvSpPr>
        <p:spPr>
          <a:xfrm>
            <a:off x="8778240" y="470915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支持多地点: 南京、上海/杭州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A7DBD272-45C9-4AC2-8412-12E75E756B17}"/>
              </a:ext>
            </a:extLst>
          </p:cNvPr>
          <p:cNvSpPr>
            <a:spLocks noGrp="1"/>
          </p:cNvSpPr>
          <p:nvPr/>
        </p:nvSpPr>
        <p:spPr>
          <a:xfrm>
            <a:off x="6858000" y="5330951"/>
            <a:ext cx="137160" cy="13716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5E8D798-BD05-44F9-BEE9-53A9460E39D4}"/>
              </a:ext>
            </a:extLst>
          </p:cNvPr>
          <p:cNvSpPr>
            <a:spLocks noGrp="1"/>
          </p:cNvSpPr>
          <p:nvPr/>
        </p:nvSpPr>
        <p:spPr>
          <a:xfrm>
            <a:off x="7132320" y="52395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技能关键词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1EF3D2-B4CA-4B36-8E10-F71E5C56A11D}"/>
              </a:ext>
            </a:extLst>
          </p:cNvPr>
          <p:cNvSpPr>
            <a:spLocks noGrp="1"/>
          </p:cNvSpPr>
          <p:nvPr/>
        </p:nvSpPr>
        <p:spPr>
          <a:xfrm>
            <a:off x="8778240" y="523951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评分关键词；优先项另行加分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3138F6A-E888-42EB-8679-79AD06ADD6C4}"/>
              </a:ext>
            </a:extLst>
          </p:cNvPr>
          <p:cNvSpPr>
            <a:spLocks noGrp="1"/>
          </p:cNvSpPr>
          <p:nvPr/>
        </p:nvSpPr>
        <p:spPr>
          <a:xfrm>
            <a:off x="6858000" y="5861303"/>
            <a:ext cx="137160" cy="13716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C94A92-2D01-4F6E-9CF2-60D674063D30}"/>
              </a:ext>
            </a:extLst>
          </p:cNvPr>
          <p:cNvSpPr>
            <a:spLocks noGrp="1"/>
          </p:cNvSpPr>
          <p:nvPr/>
        </p:nvSpPr>
        <p:spPr>
          <a:xfrm>
            <a:off x="7132320" y="57698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必要条件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848C2F4-4DFC-4909-B786-7C97B90576D7}"/>
              </a:ext>
            </a:extLst>
          </p:cNvPr>
          <p:cNvSpPr>
            <a:spLocks noGrp="1"/>
          </p:cNvSpPr>
          <p:nvPr/>
        </p:nvSpPr>
        <p:spPr>
          <a:xfrm>
            <a:off x="8778240" y="5769864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不满足直接淘汰，如"统招本科"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F3AE909A-6AC9-46F4-B80B-A15D2684ADF1}"/>
              </a:ext>
            </a:extLst>
          </p:cNvPr>
          <p:cNvSpPr>
            <a:spLocks noGrp="1"/>
          </p:cNvSpPr>
          <p:nvPr/>
        </p:nvSpPr>
        <p:spPr>
          <a:xfrm>
            <a:off x="6858000" y="6400800"/>
            <a:ext cx="4754880" cy="32004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225C36B-E578-434B-968F-FB554294EADA}"/>
              </a:ext>
            </a:extLst>
          </p:cNvPr>
          <p:cNvSpPr>
            <a:spLocks noGrp="1"/>
          </p:cNvSpPr>
          <p:nvPr/>
        </p:nvSpPr>
        <p:spPr>
          <a:xfrm>
            <a:off x="7040880" y="6400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权重建议：1=普通  2=核心  3=强核心；优先项用于加分，不当作硬门槛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35C19F7-CDBF-4488-84CD-73C38058EBF3}"/>
              </a:ext>
            </a:extLst>
          </p:cNvPr>
          <p:cNvSpPr>
            <a:spLocks noGrp="1"/>
          </p:cNvSpPr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5 / 15</a:t>
            </a:r>
          </a:p>
        </p:txBody>
      </p:sp>
    </p:spTree>
    <p:extLst>
      <p:ext uri="{BB962C8B-B14F-4D97-AF65-F5344CB8AC3E}">
        <p14:creationId xmlns:p14="http://schemas.microsoft.com/office/powerpoint/2010/main" val="17712602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FD1509A-3CEB-4F8A-88C2-927DB4E34FC0}"/>
              </a:ext>
            </a:extLst>
          </p:cNvPr>
          <p:cNvSpPr>
            <a:spLocks noGrp="1"/>
          </p:cNvSpPr>
          <p:nvPr/>
        </p:nvSpPr>
        <p:spPr>
          <a:xfrm>
            <a:off x="731520" y="548640"/>
            <a:ext cx="73152" cy="4572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85D44C-0B58-4802-82D4-D6725BC5982D}"/>
              </a:ext>
            </a:extLst>
          </p:cNvPr>
          <p:cNvSpPr>
            <a:spLocks noGrp="1"/>
          </p:cNvSpPr>
          <p:nvPr/>
        </p:nvSpPr>
        <p:spPr>
          <a:xfrm>
            <a:off x="1005840" y="502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3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招聘需求自动解析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65F85E-0FF1-4BDB-B82B-71A06001D764}"/>
              </a:ext>
            </a:extLst>
          </p:cNvPr>
          <p:cNvSpPr>
            <a:spLocks noGrp="1"/>
          </p:cNvSpPr>
          <p:nvPr/>
        </p:nvSpPr>
        <p:spPr>
          <a:xfrm>
            <a:off x="100584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粘贴 JD → 系统自动提取字段 → 人工检查修正 → 保存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53F9F56-8277-4338-94E8-823F977E2D15}"/>
              </a:ext>
            </a:extLst>
          </p:cNvPr>
          <p:cNvSpPr>
            <a:spLocks noGrp="1"/>
          </p:cNvSpPr>
          <p:nvPr/>
        </p:nvSpPr>
        <p:spPr>
          <a:xfrm>
            <a:off x="731520" y="1828800"/>
            <a:ext cx="2560320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506B7FC-4AFC-441C-B06F-BCCAE81336D5}"/>
              </a:ext>
            </a:extLst>
          </p:cNvPr>
          <p:cNvSpPr>
            <a:spLocks noGrp="1"/>
          </p:cNvSpPr>
          <p:nvPr/>
        </p:nvSpPr>
        <p:spPr>
          <a:xfrm>
            <a:off x="1691640" y="2103120"/>
            <a:ext cx="640080" cy="64008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0435FB-B2FF-4648-97D0-FEE9F68EE919}"/>
              </a:ext>
            </a:extLst>
          </p:cNvPr>
          <p:cNvSpPr>
            <a:spLocks noGrp="1"/>
          </p:cNvSpPr>
          <p:nvPr/>
        </p:nvSpPr>
        <p:spPr>
          <a:xfrm>
            <a:off x="914400" y="2926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5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粘贴招聘需求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4C6863-0287-4073-AB88-546CF239DF86}"/>
              </a:ext>
            </a:extLst>
          </p:cNvPr>
          <p:cNvSpPr>
            <a:spLocks noGrp="1"/>
          </p:cNvSpPr>
          <p:nvPr/>
        </p:nvSpPr>
        <p:spPr>
          <a:xfrm>
            <a:off x="914400" y="33832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把 JD 文本粘贴到
文本框中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0568E2D-0FA3-4FFC-9C0D-75BCF7F8824C}"/>
              </a:ext>
            </a:extLst>
          </p:cNvPr>
          <p:cNvSpPr>
            <a:spLocks noGrp="1"/>
          </p:cNvSpPr>
          <p:nvPr/>
        </p:nvSpPr>
        <p:spPr>
          <a:xfrm>
            <a:off x="3566160" y="1828800"/>
            <a:ext cx="2560320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420511-95C5-4301-BA7F-0FD8BC81280D}"/>
              </a:ext>
            </a:extLst>
          </p:cNvPr>
          <p:cNvSpPr>
            <a:spLocks noGrp="1"/>
          </p:cNvSpPr>
          <p:nvPr/>
        </p:nvSpPr>
        <p:spPr>
          <a:xfrm>
            <a:off x="4526280" y="2103120"/>
            <a:ext cx="640080" cy="64008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06C761-F195-425A-9A88-35F5D831F4C8}"/>
              </a:ext>
            </a:extLst>
          </p:cNvPr>
          <p:cNvSpPr>
            <a:spLocks noGrp="1"/>
          </p:cNvSpPr>
          <p:nvPr/>
        </p:nvSpPr>
        <p:spPr>
          <a:xfrm>
            <a:off x="3749040" y="2926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5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参考示例模板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042527-BA20-4798-9ED2-3C3B184158F8}"/>
              </a:ext>
            </a:extLst>
          </p:cNvPr>
          <p:cNvSpPr>
            <a:spLocks noGrp="1"/>
          </p:cNvSpPr>
          <p:nvPr/>
        </p:nvSpPr>
        <p:spPr>
          <a:xfrm>
            <a:off x="3749040" y="33832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不清楚格式？点击
"招聘需求示例"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15B2595-0305-4481-AF85-29313F8B8826}"/>
              </a:ext>
            </a:extLst>
          </p:cNvPr>
          <p:cNvSpPr>
            <a:spLocks noGrp="1"/>
          </p:cNvSpPr>
          <p:nvPr/>
        </p:nvSpPr>
        <p:spPr>
          <a:xfrm>
            <a:off x="6400800" y="1828800"/>
            <a:ext cx="2560320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12ADB99-B67B-41D6-A864-3AC171127363}"/>
              </a:ext>
            </a:extLst>
          </p:cNvPr>
          <p:cNvSpPr>
            <a:spLocks noGrp="1"/>
          </p:cNvSpPr>
          <p:nvPr/>
        </p:nvSpPr>
        <p:spPr>
          <a:xfrm>
            <a:off x="7360920" y="2103120"/>
            <a:ext cx="640080" cy="64008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51167C-BE04-4950-A23A-FFCF5AAA0D6C}"/>
              </a:ext>
            </a:extLst>
          </p:cNvPr>
          <p:cNvSpPr>
            <a:spLocks noGrp="1"/>
          </p:cNvSpPr>
          <p:nvPr/>
        </p:nvSpPr>
        <p:spPr>
          <a:xfrm>
            <a:off x="6583680" y="2926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500" b="1" i="0" dirty="0" err="1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解析</a:t>
            </a:r>
            <a:r>
              <a:rPr sz="1500" b="1" i="0" dirty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 + </a:t>
            </a:r>
            <a:r>
              <a:rPr sz="1500" b="1" i="0" dirty="0" err="1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检查</a:t>
            </a:r>
            <a:endParaRPr sz="1500" b="1" i="0" dirty="0">
              <a:solidFill>
                <a:srgbClr val="1B283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9642731-F0D1-4A1A-9F57-28DCCC2634A3}"/>
              </a:ext>
            </a:extLst>
          </p:cNvPr>
          <p:cNvSpPr>
            <a:spLocks noGrp="1"/>
          </p:cNvSpPr>
          <p:nvPr/>
        </p:nvSpPr>
        <p:spPr>
          <a:xfrm>
            <a:off x="6583680" y="33832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检查技能/优先项/必要条件</a:t>
            </a:r>
          </a:p>
          <a:p>
            <a:pPr algn="ctr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手工修正偏差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BD0EBF4D-C127-4A67-81B3-15DBB3BF7902}"/>
              </a:ext>
            </a:extLst>
          </p:cNvPr>
          <p:cNvSpPr>
            <a:spLocks noGrp="1"/>
          </p:cNvSpPr>
          <p:nvPr/>
        </p:nvSpPr>
        <p:spPr>
          <a:xfrm>
            <a:off x="9235440" y="1828800"/>
            <a:ext cx="2560320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14AC7D4-51A7-4717-A3C1-E3FF2B9FD678}"/>
              </a:ext>
            </a:extLst>
          </p:cNvPr>
          <p:cNvSpPr>
            <a:spLocks noGrp="1"/>
          </p:cNvSpPr>
          <p:nvPr/>
        </p:nvSpPr>
        <p:spPr>
          <a:xfrm>
            <a:off x="10195560" y="2103120"/>
            <a:ext cx="640080" cy="64008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6BDD82-0E4C-4313-9FD1-FA6DCC7E3C15}"/>
              </a:ext>
            </a:extLst>
          </p:cNvPr>
          <p:cNvSpPr>
            <a:spLocks noGrp="1"/>
          </p:cNvSpPr>
          <p:nvPr/>
        </p:nvSpPr>
        <p:spPr>
          <a:xfrm>
            <a:off x="9418320" y="2926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5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保存配置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8B74CB-962D-450A-8250-FB3AAE9F1CE9}"/>
              </a:ext>
            </a:extLst>
          </p:cNvPr>
          <p:cNvSpPr>
            <a:spLocks noGrp="1"/>
          </p:cNvSpPr>
          <p:nvPr/>
        </p:nvSpPr>
        <p:spPr>
          <a:xfrm>
            <a:off x="9418320" y="33832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确认无误后保存
生成岗位规则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BD2CE87-4AC5-44E9-846A-6824E375AA4C}"/>
              </a:ext>
            </a:extLst>
          </p:cNvPr>
          <p:cNvSpPr>
            <a:spLocks noGrp="1"/>
          </p:cNvSpPr>
          <p:nvPr/>
        </p:nvSpPr>
        <p:spPr>
          <a:xfrm>
            <a:off x="731520" y="4846320"/>
            <a:ext cx="1069848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BEA727F-9ADA-4B0E-9F7E-56E9A849CE46}"/>
              </a:ext>
            </a:extLst>
          </p:cNvPr>
          <p:cNvSpPr>
            <a:spLocks noGrp="1"/>
          </p:cNvSpPr>
          <p:nvPr/>
        </p:nvSpPr>
        <p:spPr>
          <a:xfrm>
            <a:off x="109728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E8652C"/>
                </a:solidFill>
                <a:latin typeface="Microsoft YaHei"/>
                <a:ea typeface="Microsoft YaHei"/>
                <a:cs typeface="Microsoft YaHei"/>
              </a:rPr>
              <a:t>⚠️  解析功能是辅助，不是最终裁决。保存前必须人工检查：薪资、地点、必要条件、技能权重和优先项。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87C801-B725-493C-884C-11531881AD31}"/>
              </a:ext>
            </a:extLst>
          </p:cNvPr>
          <p:cNvSpPr>
            <a:spLocks noGrp="1"/>
          </p:cNvSpPr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6 / 15</a:t>
            </a:r>
          </a:p>
        </p:txBody>
      </p:sp>
    </p:spTree>
    <p:extLst>
      <p:ext uri="{BB962C8B-B14F-4D97-AF65-F5344CB8AC3E}">
        <p14:creationId xmlns:p14="http://schemas.microsoft.com/office/powerpoint/2010/main" val="19210664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20253" y="1419640"/>
            <a:ext cx="4691171" cy="3872874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1923FF1-8E3F-425C-BADD-FF709FA647B3}"/>
              </a:ext>
            </a:extLst>
          </p:cNvPr>
          <p:cNvSpPr>
            <a:spLocks noGrp="1"/>
          </p:cNvSpPr>
          <p:nvPr/>
        </p:nvSpPr>
        <p:spPr>
          <a:xfrm>
            <a:off x="731520" y="548640"/>
            <a:ext cx="73152" cy="4572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EE0F9E-56F0-418E-AC17-2F720B14BBD1}"/>
              </a:ext>
            </a:extLst>
          </p:cNvPr>
          <p:cNvSpPr>
            <a:spLocks noGrp="1"/>
          </p:cNvSpPr>
          <p:nvPr/>
        </p:nvSpPr>
        <p:spPr>
          <a:xfrm>
            <a:off x="1005840" y="502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3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配置大模型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F6EAFE-A46A-4E6A-B5A5-10CBCA9463F2}"/>
              </a:ext>
            </a:extLst>
          </p:cNvPr>
          <p:cNvSpPr>
            <a:spLocks noGrp="1"/>
          </p:cNvSpPr>
          <p:nvPr/>
        </p:nvSpPr>
        <p:spPr>
          <a:xfrm>
            <a:off x="100584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可选配置。启用 AI 辅助评估时，需要先完成模型配置和连通性测试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A65BC3-BA6E-4235-9477-D28271C9AB27}"/>
              </a:ext>
            </a:extLst>
          </p:cNvPr>
          <p:cNvSpPr>
            <a:spLocks noGrp="1"/>
          </p:cNvSpPr>
          <p:nvPr/>
        </p:nvSpPr>
        <p:spPr>
          <a:xfrm>
            <a:off x="694944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配置 6 步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6074D23-D779-4DA5-B42F-426EF7565459}"/>
              </a:ext>
            </a:extLst>
          </p:cNvPr>
          <p:cNvSpPr>
            <a:spLocks noGrp="1"/>
          </p:cNvSpPr>
          <p:nvPr/>
        </p:nvSpPr>
        <p:spPr>
          <a:xfrm>
            <a:off x="6949440" y="2121408"/>
            <a:ext cx="256032" cy="256032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9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294180-787C-41BE-85E9-8DEF03DEADD5}"/>
              </a:ext>
            </a:extLst>
          </p:cNvPr>
          <p:cNvSpPr>
            <a:spLocks noGrp="1"/>
          </p:cNvSpPr>
          <p:nvPr/>
        </p:nvSpPr>
        <p:spPr>
          <a:xfrm>
            <a:off x="7315200" y="20574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选择服务商（通义千问 / DeepSeek / Kimi / OpenAI ...）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D431F04-B2D6-4934-A019-A4DDCC51CC5F}"/>
              </a:ext>
            </a:extLst>
          </p:cNvPr>
          <p:cNvSpPr>
            <a:spLocks noGrp="1"/>
          </p:cNvSpPr>
          <p:nvPr/>
        </p:nvSpPr>
        <p:spPr>
          <a:xfrm>
            <a:off x="6949440" y="2624328"/>
            <a:ext cx="256032" cy="256032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9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93997B-AAAF-4142-B862-53CC3844B78F}"/>
              </a:ext>
            </a:extLst>
          </p:cNvPr>
          <p:cNvSpPr>
            <a:spLocks noGrp="1"/>
          </p:cNvSpPr>
          <p:nvPr/>
        </p:nvSpPr>
        <p:spPr>
          <a:xfrm>
            <a:off x="7315200" y="25603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填写 Base URL（系统给出默认地址）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1787F6E-D389-4645-AC0B-D28ED45472F3}"/>
              </a:ext>
            </a:extLst>
          </p:cNvPr>
          <p:cNvSpPr>
            <a:spLocks noGrp="1"/>
          </p:cNvSpPr>
          <p:nvPr/>
        </p:nvSpPr>
        <p:spPr>
          <a:xfrm>
            <a:off x="6949440" y="3127248"/>
            <a:ext cx="256032" cy="256032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9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748C50-10DE-4159-BC7E-EC1FAA7A02E7}"/>
              </a:ext>
            </a:extLst>
          </p:cNvPr>
          <p:cNvSpPr>
            <a:spLocks noGrp="1"/>
          </p:cNvSpPr>
          <p:nvPr/>
        </p:nvSpPr>
        <p:spPr>
          <a:xfrm>
            <a:off x="7315200" y="3063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输入 API Key（加密存储在系统钥匙串）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25CDCD7-FAD9-4AA1-803F-D5D81B9576CB}"/>
              </a:ext>
            </a:extLst>
          </p:cNvPr>
          <p:cNvSpPr>
            <a:spLocks noGrp="1"/>
          </p:cNvSpPr>
          <p:nvPr/>
        </p:nvSpPr>
        <p:spPr>
          <a:xfrm>
            <a:off x="6949440" y="3630168"/>
            <a:ext cx="256032" cy="256032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9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AA9530-B908-4A13-BB1E-E57B8AD8343C}"/>
              </a:ext>
            </a:extLst>
          </p:cNvPr>
          <p:cNvSpPr>
            <a:spLocks noGrp="1"/>
          </p:cNvSpPr>
          <p:nvPr/>
        </p:nvSpPr>
        <p:spPr>
          <a:xfrm>
            <a:off x="7315200" y="35661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获取或输入模型名称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0B318DB-B5D1-466E-830C-56BC104D8D5C}"/>
              </a:ext>
            </a:extLst>
          </p:cNvPr>
          <p:cNvSpPr>
            <a:spLocks noGrp="1"/>
          </p:cNvSpPr>
          <p:nvPr/>
        </p:nvSpPr>
        <p:spPr>
          <a:xfrm>
            <a:off x="6949440" y="4133088"/>
            <a:ext cx="256032" cy="256032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9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5D9337-87D0-4813-BFEC-51C8E915D863}"/>
              </a:ext>
            </a:extLst>
          </p:cNvPr>
          <p:cNvSpPr>
            <a:spLocks noGrp="1"/>
          </p:cNvSpPr>
          <p:nvPr/>
        </p:nvSpPr>
        <p:spPr>
          <a:xfrm>
            <a:off x="7315200" y="40690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点击「测试连接」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C7B2E30-60B3-45A9-AB82-C0C124A1F446}"/>
              </a:ext>
            </a:extLst>
          </p:cNvPr>
          <p:cNvSpPr>
            <a:spLocks noGrp="1"/>
          </p:cNvSpPr>
          <p:nvPr/>
        </p:nvSpPr>
        <p:spPr>
          <a:xfrm>
            <a:off x="6949440" y="4636008"/>
            <a:ext cx="256032" cy="256032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9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037179-E8A4-4FF2-94A1-9B7414B95471}"/>
              </a:ext>
            </a:extLst>
          </p:cNvPr>
          <p:cNvSpPr>
            <a:spLocks noGrp="1"/>
          </p:cNvSpPr>
          <p:nvPr/>
        </p:nvSpPr>
        <p:spPr>
          <a:xfrm>
            <a:off x="7315200" y="45720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测试通过 → 保存并添加到列表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F55323D4-A678-4714-90EB-0760F029A69B}"/>
              </a:ext>
            </a:extLst>
          </p:cNvPr>
          <p:cNvSpPr>
            <a:spLocks noGrp="1"/>
          </p:cNvSpPr>
          <p:nvPr/>
        </p:nvSpPr>
        <p:spPr>
          <a:xfrm>
            <a:off x="731520" y="5486400"/>
            <a:ext cx="347472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9F0951D-0D32-4D7D-8B76-7570C92007EF}"/>
              </a:ext>
            </a:extLst>
          </p:cNvPr>
          <p:cNvSpPr>
            <a:spLocks noGrp="1"/>
          </p:cNvSpPr>
          <p:nvPr/>
        </p:nvSpPr>
        <p:spPr>
          <a:xfrm>
            <a:off x="914400" y="56144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🔐 安全存储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B8EA44-1946-4356-9AB3-ED79E5EA9CCA}"/>
              </a:ext>
            </a:extLst>
          </p:cNvPr>
          <p:cNvSpPr>
            <a:spLocks noGrp="1"/>
          </p:cNvSpPr>
          <p:nvPr/>
        </p:nvSpPr>
        <p:spPr>
          <a:xfrm>
            <a:off x="914400" y="58887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API Key 加密保存在系统钥匙串</a:t>
            </a:r>
            <a:br/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配置文件中不含明文 Key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3514D64-2AE5-4C81-A0FB-CCF022D439C3}"/>
              </a:ext>
            </a:extLst>
          </p:cNvPr>
          <p:cNvSpPr>
            <a:spLocks noGrp="1"/>
          </p:cNvSpPr>
          <p:nvPr/>
        </p:nvSpPr>
        <p:spPr>
          <a:xfrm>
            <a:off x="4480559" y="5486400"/>
            <a:ext cx="347472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132C09B-6450-472F-81D6-C94AC287302F}"/>
              </a:ext>
            </a:extLst>
          </p:cNvPr>
          <p:cNvSpPr>
            <a:spLocks noGrp="1"/>
          </p:cNvSpPr>
          <p:nvPr/>
        </p:nvSpPr>
        <p:spPr>
          <a:xfrm>
            <a:off x="4663440" y="56144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🔄 多接入方式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101E1B-879C-4BFE-A8E1-5490BD4C6684}"/>
              </a:ext>
            </a:extLst>
          </p:cNvPr>
          <p:cNvSpPr>
            <a:spLocks noGrp="1"/>
          </p:cNvSpPr>
          <p:nvPr/>
        </p:nvSpPr>
        <p:spPr>
          <a:xfrm>
            <a:off x="4663440" y="58887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同一服务商按 provider+base_url
区分不同接入方式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EA02B89-4286-4857-A23C-09AA4D235532}"/>
              </a:ext>
            </a:extLst>
          </p:cNvPr>
          <p:cNvSpPr>
            <a:spLocks noGrp="1"/>
          </p:cNvSpPr>
          <p:nvPr/>
        </p:nvSpPr>
        <p:spPr>
          <a:xfrm>
            <a:off x="8229600" y="5486400"/>
            <a:ext cx="347472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45B21F-1881-4F6D-8570-B40872E3ECFE}"/>
              </a:ext>
            </a:extLst>
          </p:cNvPr>
          <p:cNvSpPr>
            <a:spLocks noGrp="1"/>
          </p:cNvSpPr>
          <p:nvPr/>
        </p:nvSpPr>
        <p:spPr>
          <a:xfrm>
            <a:off x="8412480" y="56144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🔍 模型管理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940B0A1-42D0-4939-82BC-EDEE62D92450}"/>
              </a:ext>
            </a:extLst>
          </p:cNvPr>
          <p:cNvSpPr>
            <a:spLocks noGrp="1"/>
          </p:cNvSpPr>
          <p:nvPr/>
        </p:nvSpPr>
        <p:spPr>
          <a:xfrm>
            <a:off x="8412480" y="58887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搜索/多选/批量测试/新增检测
支持下线模型提醒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6C3F6D-4B73-42DB-BCD3-A4FA7287E7DB}"/>
              </a:ext>
            </a:extLst>
          </p:cNvPr>
          <p:cNvSpPr>
            <a:spLocks noGrp="1"/>
          </p:cNvSpPr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7 / 15</a:t>
            </a:r>
          </a:p>
        </p:txBody>
      </p:sp>
    </p:spTree>
    <p:extLst>
      <p:ext uri="{BB962C8B-B14F-4D97-AF65-F5344CB8AC3E}">
        <p14:creationId xmlns:p14="http://schemas.microsoft.com/office/powerpoint/2010/main" val="13291659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DD53D0-E641-4E1A-B42E-0DE2F10F218E}"/>
              </a:ext>
            </a:extLst>
          </p:cNvPr>
          <p:cNvSpPr>
            <a:spLocks noGrp="1"/>
          </p:cNvSpPr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3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连接 BOSS 直聘页面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E4ACDD-059A-4953-BBE3-ACB0FCAF613E}"/>
              </a:ext>
            </a:extLst>
          </p:cNvPr>
          <p:cNvSpPr>
            <a:spLocks noGrp="1"/>
          </p:cNvSpPr>
          <p:nvPr/>
        </p:nvSpPr>
        <p:spPr>
          <a:xfrm>
            <a:off x="73152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系统连接 Chrome，并在扫描/打招呼前校验是否仍在推荐牛人页面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F71AE96-2D12-4870-A1BE-2ECE4B84117C}"/>
              </a:ext>
            </a:extLst>
          </p:cNvPr>
          <p:cNvSpPr>
            <a:spLocks noGrp="1"/>
          </p:cNvSpPr>
          <p:nvPr/>
        </p:nvSpPr>
        <p:spPr>
          <a:xfrm>
            <a:off x="744522" y="2312219"/>
            <a:ext cx="365760" cy="36576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7BEA79-0E6B-420B-A9B9-E2ACFC797D3E}"/>
              </a:ext>
            </a:extLst>
          </p:cNvPr>
          <p:cNvSpPr>
            <a:spLocks noGrp="1"/>
          </p:cNvSpPr>
          <p:nvPr/>
        </p:nvSpPr>
        <p:spPr>
          <a:xfrm>
            <a:off x="1293162" y="22665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点击「检测/连接浏览器」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DE9038-244F-4B28-AF41-D2F09A6B759A}"/>
              </a:ext>
            </a:extLst>
          </p:cNvPr>
          <p:cNvSpPr>
            <a:spLocks noGrp="1"/>
          </p:cNvSpPr>
          <p:nvPr/>
        </p:nvSpPr>
        <p:spPr>
          <a:xfrm>
            <a:off x="899970" y="2677980"/>
            <a:ext cx="54864" cy="27432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1A28353-4A6A-4BCC-AE5A-85A01DB71D24}"/>
              </a:ext>
            </a:extLst>
          </p:cNvPr>
          <p:cNvSpPr>
            <a:spLocks noGrp="1"/>
          </p:cNvSpPr>
          <p:nvPr/>
        </p:nvSpPr>
        <p:spPr>
          <a:xfrm>
            <a:off x="744522" y="2952300"/>
            <a:ext cx="365760" cy="36576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79CB9F-6502-410D-865C-5DD083B233BA}"/>
              </a:ext>
            </a:extLst>
          </p:cNvPr>
          <p:cNvSpPr>
            <a:spLocks noGrp="1"/>
          </p:cNvSpPr>
          <p:nvPr/>
        </p:nvSpPr>
        <p:spPr>
          <a:xfrm>
            <a:off x="1293162" y="29065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系统连接或启动 Chrome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7B0F8B9-9587-4FC9-B8D4-72801BCD15E9}"/>
              </a:ext>
            </a:extLst>
          </p:cNvPr>
          <p:cNvSpPr>
            <a:spLocks noGrp="1"/>
          </p:cNvSpPr>
          <p:nvPr/>
        </p:nvSpPr>
        <p:spPr>
          <a:xfrm>
            <a:off x="899970" y="3318060"/>
            <a:ext cx="54864" cy="27432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EB13432-0530-49D2-9DD0-A4C2A71BCA69}"/>
              </a:ext>
            </a:extLst>
          </p:cNvPr>
          <p:cNvSpPr>
            <a:spLocks noGrp="1"/>
          </p:cNvSpPr>
          <p:nvPr/>
        </p:nvSpPr>
        <p:spPr>
          <a:xfrm>
            <a:off x="744522" y="3592379"/>
            <a:ext cx="365760" cy="36576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61CFEF-371B-4D86-A51D-84EEB191D54C}"/>
              </a:ext>
            </a:extLst>
          </p:cNvPr>
          <p:cNvSpPr>
            <a:spLocks noGrp="1"/>
          </p:cNvSpPr>
          <p:nvPr/>
        </p:nvSpPr>
        <p:spPr>
          <a:xfrm>
            <a:off x="1293162" y="35466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登录 BOSS 直聘账号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0AAAFA-970C-4C80-A2DF-1C089F8B5F22}"/>
              </a:ext>
            </a:extLst>
          </p:cNvPr>
          <p:cNvSpPr>
            <a:spLocks noGrp="1"/>
          </p:cNvSpPr>
          <p:nvPr/>
        </p:nvSpPr>
        <p:spPr>
          <a:xfrm>
            <a:off x="899970" y="3958140"/>
            <a:ext cx="54864" cy="27432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CC927F0-6D68-4A8E-8DA6-47920851E055}"/>
              </a:ext>
            </a:extLst>
          </p:cNvPr>
          <p:cNvSpPr>
            <a:spLocks noGrp="1"/>
          </p:cNvSpPr>
          <p:nvPr/>
        </p:nvSpPr>
        <p:spPr>
          <a:xfrm>
            <a:off x="744522" y="4232459"/>
            <a:ext cx="365760" cy="36576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55FF91-233C-4790-A04A-FFE6A5F1A68C}"/>
              </a:ext>
            </a:extLst>
          </p:cNvPr>
          <p:cNvSpPr>
            <a:spLocks noGrp="1"/>
          </p:cNvSpPr>
          <p:nvPr/>
        </p:nvSpPr>
        <p:spPr>
          <a:xfrm>
            <a:off x="1293162" y="418673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打开「推荐牛人」页面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C0A6CC4-AC1B-4837-8FD8-4EDC2893BEC8}"/>
              </a:ext>
            </a:extLst>
          </p:cNvPr>
          <p:cNvSpPr>
            <a:spLocks noGrp="1"/>
          </p:cNvSpPr>
          <p:nvPr/>
        </p:nvSpPr>
        <p:spPr>
          <a:xfrm>
            <a:off x="899970" y="4598220"/>
            <a:ext cx="54864" cy="27432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AF82B71-77A6-45B8-B6A4-4AD91FCEBE5B}"/>
              </a:ext>
            </a:extLst>
          </p:cNvPr>
          <p:cNvSpPr>
            <a:spLocks noGrp="1"/>
          </p:cNvSpPr>
          <p:nvPr/>
        </p:nvSpPr>
        <p:spPr>
          <a:xfrm>
            <a:off x="744522" y="4872540"/>
            <a:ext cx="365760" cy="36576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EDCB8C-F18E-4C73-A30A-4E9911F913B4}"/>
              </a:ext>
            </a:extLst>
          </p:cNvPr>
          <p:cNvSpPr>
            <a:spLocks noGrp="1"/>
          </p:cNvSpPr>
          <p:nvPr/>
        </p:nvSpPr>
        <p:spPr>
          <a:xfrm>
            <a:off x="1293162" y="48268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回到系统确认状态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21C879-813C-4382-AEB7-FF9553788C11}"/>
              </a:ext>
            </a:extLst>
          </p:cNvPr>
          <p:cNvSpPr>
            <a:spLocks noGrp="1"/>
          </p:cNvSpPr>
          <p:nvPr/>
        </p:nvSpPr>
        <p:spPr>
          <a:xfrm>
            <a:off x="594360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E8652C"/>
                </a:solidFill>
                <a:latin typeface="Microsoft YaHei"/>
                <a:ea typeface="Microsoft YaHei"/>
                <a:cs typeface="Microsoft YaHei"/>
              </a:rPr>
              <a:t>浏览器状态判断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E59F3680-5FAD-4F24-B366-AFA9C9CE7D92}"/>
              </a:ext>
            </a:extLst>
          </p:cNvPr>
          <p:cNvSpPr>
            <a:spLocks noGrp="1"/>
          </p:cNvSpPr>
          <p:nvPr/>
        </p:nvSpPr>
        <p:spPr>
          <a:xfrm>
            <a:off x="5943600" y="2560320"/>
            <a:ext cx="5486400" cy="914400"/>
          </a:xfrm>
          <a:prstGeom prst="roundRect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AFB12BBB-341B-44D8-AA44-53326DC538F7}"/>
              </a:ext>
            </a:extLst>
          </p:cNvPr>
          <p:cNvSpPr>
            <a:spLocks noGrp="1"/>
          </p:cNvSpPr>
          <p:nvPr/>
        </p:nvSpPr>
        <p:spPr>
          <a:xfrm>
            <a:off x="6126480" y="2697479"/>
            <a:ext cx="109728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未连接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57CBD7-2971-4154-8614-152B8FF6DD69}"/>
              </a:ext>
            </a:extLst>
          </p:cNvPr>
          <p:cNvSpPr>
            <a:spLocks noGrp="1"/>
          </p:cNvSpPr>
          <p:nvPr/>
        </p:nvSpPr>
        <p:spPr>
          <a:xfrm>
            <a:off x="7406640" y="2651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没有连到 Chrome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30F0409-70F0-4E8C-943C-676D92D31B16}"/>
              </a:ext>
            </a:extLst>
          </p:cNvPr>
          <p:cNvSpPr>
            <a:spLocks noGrp="1"/>
          </p:cNvSpPr>
          <p:nvPr/>
        </p:nvSpPr>
        <p:spPr>
          <a:xfrm>
            <a:off x="7406640" y="3017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→ 点击检测/连接浏览器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769D4ED-AEC4-4C52-B7EC-645D341B8EED}"/>
              </a:ext>
            </a:extLst>
          </p:cNvPr>
          <p:cNvSpPr>
            <a:spLocks noGrp="1"/>
          </p:cNvSpPr>
          <p:nvPr/>
        </p:nvSpPr>
        <p:spPr>
          <a:xfrm>
            <a:off x="5943600" y="3657600"/>
            <a:ext cx="5486400" cy="914400"/>
          </a:xfrm>
          <a:prstGeom prst="roundRect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15DA62B-8378-4EE0-89E5-22F4FA8C34AA}"/>
              </a:ext>
            </a:extLst>
          </p:cNvPr>
          <p:cNvSpPr>
            <a:spLocks noGrp="1"/>
          </p:cNvSpPr>
          <p:nvPr/>
        </p:nvSpPr>
        <p:spPr>
          <a:xfrm>
            <a:off x="6126480" y="3794760"/>
            <a:ext cx="109728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需导航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CF913F-CB9C-43FB-8909-C8773B5B1E27}"/>
              </a:ext>
            </a:extLst>
          </p:cNvPr>
          <p:cNvSpPr>
            <a:spLocks noGrp="1"/>
          </p:cNvSpPr>
          <p:nvPr/>
        </p:nvSpPr>
        <p:spPr>
          <a:xfrm>
            <a:off x="740664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已连接但不在推荐页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127317C-0D4D-4186-86B8-2E7F1FEA9F42}"/>
              </a:ext>
            </a:extLst>
          </p:cNvPr>
          <p:cNvSpPr>
            <a:spLocks noGrp="1"/>
          </p:cNvSpPr>
          <p:nvPr/>
        </p:nvSpPr>
        <p:spPr>
          <a:xfrm>
            <a:off x="7406640" y="4114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→ 手工打开推荐页面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AF2969D4-52F0-45D7-BC8D-C460705AF0BD}"/>
              </a:ext>
            </a:extLst>
          </p:cNvPr>
          <p:cNvSpPr>
            <a:spLocks noGrp="1"/>
          </p:cNvSpPr>
          <p:nvPr/>
        </p:nvSpPr>
        <p:spPr>
          <a:xfrm>
            <a:off x="5943600" y="4754879"/>
            <a:ext cx="5486400" cy="914400"/>
          </a:xfrm>
          <a:prstGeom prst="roundRect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D5984D31-1A62-49B4-9D35-FD68080DC862}"/>
              </a:ext>
            </a:extLst>
          </p:cNvPr>
          <p:cNvSpPr>
            <a:spLocks noGrp="1"/>
          </p:cNvSpPr>
          <p:nvPr/>
        </p:nvSpPr>
        <p:spPr>
          <a:xfrm>
            <a:off x="6126480" y="4892040"/>
            <a:ext cx="109728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已连接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CEF685-E06D-4720-A630-D4659E34315A}"/>
              </a:ext>
            </a:extLst>
          </p:cNvPr>
          <p:cNvSpPr>
            <a:spLocks noGrp="1"/>
          </p:cNvSpPr>
          <p:nvPr/>
        </p:nvSpPr>
        <p:spPr>
          <a:xfrm>
            <a:off x="7406640" y="484631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已连接到推荐牛人页面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B2D16F-69D5-4156-8119-107F6A2B3998}"/>
              </a:ext>
            </a:extLst>
          </p:cNvPr>
          <p:cNvSpPr>
            <a:spLocks noGrp="1"/>
          </p:cNvSpPr>
          <p:nvPr/>
        </p:nvSpPr>
        <p:spPr>
          <a:xfrm>
            <a:off x="7406640" y="521207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→ 可以开始运行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A886349-073D-4A10-BA1D-D5BC071FF9C5}"/>
              </a:ext>
            </a:extLst>
          </p:cNvPr>
          <p:cNvSpPr>
            <a:spLocks noGrp="1"/>
          </p:cNvSpPr>
          <p:nvPr/>
        </p:nvSpPr>
        <p:spPr>
          <a:xfrm>
            <a:off x="731520" y="5943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0" i="0">
                <a:solidFill>
                  <a:srgbClr val="F39C12"/>
                </a:solidFill>
                <a:latin typeface="Microsoft YaHei"/>
                <a:ea typeface="Microsoft YaHei"/>
                <a:cs typeface="Microsoft YaHei"/>
              </a:rPr>
              <a:t>⚠️  系统不会替你绕过验证码。出现验证时，先在浏览器完成验证，再回到系统继续。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4886987-1B6E-4CF3-B0B0-E29FBAD94C31}"/>
              </a:ext>
            </a:extLst>
          </p:cNvPr>
          <p:cNvSpPr>
            <a:spLocks noGrp="1"/>
          </p:cNvSpPr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8 / 15</a:t>
            </a:r>
          </a:p>
        </p:txBody>
      </p:sp>
    </p:spTree>
    <p:extLst>
      <p:ext uri="{BB962C8B-B14F-4D97-AF65-F5344CB8AC3E}">
        <p14:creationId xmlns:p14="http://schemas.microsoft.com/office/powerpoint/2010/main" val="9560473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D1D579A-4203-4D42-91E0-4FEBEE9DDA84}"/>
              </a:ext>
            </a:extLst>
          </p:cNvPr>
          <p:cNvSpPr>
            <a:spLocks noGrp="1"/>
          </p:cNvSpPr>
          <p:nvPr/>
        </p:nvSpPr>
        <p:spPr>
          <a:xfrm>
            <a:off x="731520" y="548640"/>
            <a:ext cx="73152" cy="4572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7C92B9-FC21-4C98-99F1-BED521B8EC13}"/>
              </a:ext>
            </a:extLst>
          </p:cNvPr>
          <p:cNvSpPr>
            <a:spLocks noGrp="1"/>
          </p:cNvSpPr>
          <p:nvPr/>
        </p:nvSpPr>
        <p:spPr>
          <a:xfrm>
            <a:off x="1005840" y="502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3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运行筛选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8A18A0-3E47-4F8A-AFB4-A1035BE781A7}"/>
              </a:ext>
            </a:extLst>
          </p:cNvPr>
          <p:cNvSpPr>
            <a:spLocks noGrp="1"/>
          </p:cNvSpPr>
          <p:nvPr/>
        </p:nvSpPr>
        <p:spPr>
          <a:xfrm>
            <a:off x="100584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运行前确认：浏览器已连接 + 仍在推荐牛人页面 + 岗位选择正确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E0B35E-0461-4E15-A6B7-D18924CB8F56}"/>
              </a:ext>
            </a:extLst>
          </p:cNvPr>
          <p:cNvSpPr>
            <a:spLocks noGrp="1"/>
          </p:cNvSpPr>
          <p:nvPr/>
        </p:nvSpPr>
        <p:spPr>
          <a:xfrm>
            <a:off x="6163888" y="138806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运行参数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5C1E5BB-C7E5-49BD-8183-1E3DB05161A7}"/>
              </a:ext>
            </a:extLst>
          </p:cNvPr>
          <p:cNvSpPr>
            <a:spLocks noGrp="1"/>
          </p:cNvSpPr>
          <p:nvPr/>
        </p:nvSpPr>
        <p:spPr>
          <a:xfrm>
            <a:off x="6163888" y="1936708"/>
            <a:ext cx="5029200" cy="45720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451279-BFE1-43D4-8B4F-32FBB42D5A7A}"/>
              </a:ext>
            </a:extLst>
          </p:cNvPr>
          <p:cNvSpPr>
            <a:spLocks noGrp="1"/>
          </p:cNvSpPr>
          <p:nvPr/>
        </p:nvSpPr>
        <p:spPr>
          <a:xfrm>
            <a:off x="6346768" y="198242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选择岗位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329432-2B06-423F-BB8D-96A44D9958AE}"/>
              </a:ext>
            </a:extLst>
          </p:cNvPr>
          <p:cNvSpPr>
            <a:spLocks noGrp="1"/>
          </p:cNvSpPr>
          <p:nvPr/>
        </p:nvSpPr>
        <p:spPr>
          <a:xfrm>
            <a:off x="7992688" y="1982427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单岗位优先；全部岗位适合批量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95C36E0-C3AF-48D1-93A6-10717C325ACE}"/>
              </a:ext>
            </a:extLst>
          </p:cNvPr>
          <p:cNvSpPr>
            <a:spLocks noGrp="1"/>
          </p:cNvSpPr>
          <p:nvPr/>
        </p:nvSpPr>
        <p:spPr>
          <a:xfrm>
            <a:off x="6163888" y="2485348"/>
            <a:ext cx="5029200" cy="45720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693C6F-483B-45AF-ABDD-C291D91A7C43}"/>
              </a:ext>
            </a:extLst>
          </p:cNvPr>
          <p:cNvSpPr>
            <a:spLocks noGrp="1"/>
          </p:cNvSpPr>
          <p:nvPr/>
        </p:nvSpPr>
        <p:spPr>
          <a:xfrm>
            <a:off x="6346768" y="25310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安全扫描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8CD39D-7584-44A3-9E88-9CD1ADBFA25C}"/>
              </a:ext>
            </a:extLst>
          </p:cNvPr>
          <p:cNvSpPr>
            <a:spLocks noGrp="1"/>
          </p:cNvSpPr>
          <p:nvPr/>
        </p:nvSpPr>
        <p:spPr>
          <a:xfrm>
            <a:off x="7992688" y="25310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默认开启；listener 优先，失败回退 DOM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8D3CEF5-785D-4F17-8224-395950C8A8B3}"/>
              </a:ext>
            </a:extLst>
          </p:cNvPr>
          <p:cNvSpPr>
            <a:spLocks noGrp="1"/>
          </p:cNvSpPr>
          <p:nvPr/>
        </p:nvSpPr>
        <p:spPr>
          <a:xfrm>
            <a:off x="6163888" y="3033987"/>
            <a:ext cx="5029200" cy="45720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E2FC29-124D-4380-8676-6AAF1B120F63}"/>
              </a:ext>
            </a:extLst>
          </p:cNvPr>
          <p:cNvSpPr>
            <a:spLocks noGrp="1"/>
          </p:cNvSpPr>
          <p:nvPr/>
        </p:nvSpPr>
        <p:spPr>
          <a:xfrm>
            <a:off x="6346768" y="307970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滚动/读取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55219FF-09E5-44B3-BBA7-8A7EFBF2DE38}"/>
              </a:ext>
            </a:extLst>
          </p:cNvPr>
          <p:cNvSpPr>
            <a:spLocks noGrp="1"/>
          </p:cNvSpPr>
          <p:nvPr/>
        </p:nvSpPr>
        <p:spPr>
          <a:xfrm>
            <a:off x="7992688" y="3079707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安全 50-200；API 模式上限默认 80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F525C17-A976-4F8F-93C2-1B32997B03B5}"/>
              </a:ext>
            </a:extLst>
          </p:cNvPr>
          <p:cNvSpPr>
            <a:spLocks noGrp="1"/>
          </p:cNvSpPr>
          <p:nvPr/>
        </p:nvSpPr>
        <p:spPr>
          <a:xfrm>
            <a:off x="6163888" y="3582627"/>
            <a:ext cx="5029200" cy="45720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13B6E8-6DAA-448F-B005-442C8C49CD98}"/>
              </a:ext>
            </a:extLst>
          </p:cNvPr>
          <p:cNvSpPr>
            <a:spLocks noGrp="1"/>
          </p:cNvSpPr>
          <p:nvPr/>
        </p:nvSpPr>
        <p:spPr>
          <a:xfrm>
            <a:off x="6346768" y="362834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AI/打招呼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12182B-7A93-4881-98D3-BA6F25FD33C1}"/>
              </a:ext>
            </a:extLst>
          </p:cNvPr>
          <p:cNvSpPr>
            <a:spLocks noGrp="1"/>
          </p:cNvSpPr>
          <p:nvPr/>
        </p:nvSpPr>
        <p:spPr>
          <a:xfrm>
            <a:off x="7992688" y="3628347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AI 需模型；新岗位先仅筛选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508403-444E-416F-BFC6-97A997E386E5}"/>
              </a:ext>
            </a:extLst>
          </p:cNvPr>
          <p:cNvSpPr>
            <a:spLocks noGrp="1"/>
          </p:cNvSpPr>
          <p:nvPr/>
        </p:nvSpPr>
        <p:spPr>
          <a:xfrm>
            <a:off x="6163888" y="42227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打招呼策略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E57DFB2-EB19-475B-B0E5-CBED38A62646}"/>
              </a:ext>
            </a:extLst>
          </p:cNvPr>
          <p:cNvSpPr>
            <a:spLocks noGrp="1"/>
          </p:cNvSpPr>
          <p:nvPr/>
        </p:nvSpPr>
        <p:spPr>
          <a:xfrm>
            <a:off x="6255328" y="4844500"/>
            <a:ext cx="182880" cy="182880"/>
          </a:xfrm>
          <a:prstGeom prst="ellipse">
            <a:avLst/>
          </a:prstGeom>
          <a:solidFill>
            <a:srgbClr val="6B7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CC7C9A-62A8-44E6-AAEA-A1D9C0585A30}"/>
              </a:ext>
            </a:extLst>
          </p:cNvPr>
          <p:cNvSpPr>
            <a:spLocks noGrp="1"/>
          </p:cNvSpPr>
          <p:nvPr/>
        </p:nvSpPr>
        <p:spPr>
          <a:xfrm>
            <a:off x="6621088" y="47530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仅筛选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125186-2075-483F-87C0-5F29A5F9956D}"/>
              </a:ext>
            </a:extLst>
          </p:cNvPr>
          <p:cNvSpPr>
            <a:spLocks noGrp="1"/>
          </p:cNvSpPr>
          <p:nvPr/>
        </p:nvSpPr>
        <p:spPr>
          <a:xfrm>
            <a:off x="8358448" y="47530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只提取、评分、保存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F6C8AD-809B-4772-B86F-38F992A88024}"/>
              </a:ext>
            </a:extLst>
          </p:cNvPr>
          <p:cNvSpPr>
            <a:spLocks noGrp="1"/>
          </p:cNvSpPr>
          <p:nvPr/>
        </p:nvSpPr>
        <p:spPr>
          <a:xfrm>
            <a:off x="10278688" y="47530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 i="1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首次测试推荐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5A7F9BD-F720-4721-B8FD-60CADA2D5BA3}"/>
              </a:ext>
            </a:extLst>
          </p:cNvPr>
          <p:cNvSpPr>
            <a:spLocks noGrp="1"/>
          </p:cNvSpPr>
          <p:nvPr/>
        </p:nvSpPr>
        <p:spPr>
          <a:xfrm>
            <a:off x="6255328" y="5393140"/>
            <a:ext cx="182880" cy="182880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728F9A-F53A-4834-BD10-A10A21A4A4BB}"/>
              </a:ext>
            </a:extLst>
          </p:cNvPr>
          <p:cNvSpPr>
            <a:spLocks noGrp="1"/>
          </p:cNvSpPr>
          <p:nvPr/>
        </p:nvSpPr>
        <p:spPr>
          <a:xfrm>
            <a:off x="6621088" y="53017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仅强烈推荐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F8D199B-8D5D-49B7-A006-B70F8ED7A9F1}"/>
              </a:ext>
            </a:extLst>
          </p:cNvPr>
          <p:cNvSpPr>
            <a:spLocks noGrp="1"/>
          </p:cNvSpPr>
          <p:nvPr/>
        </p:nvSpPr>
        <p:spPr>
          <a:xfrm>
            <a:off x="8358448" y="53017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≥75 分才打招呼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FB5C47F-2D79-49E7-B999-9AEB86BA4D6B}"/>
              </a:ext>
            </a:extLst>
          </p:cNvPr>
          <p:cNvSpPr>
            <a:spLocks noGrp="1"/>
          </p:cNvSpPr>
          <p:nvPr/>
        </p:nvSpPr>
        <p:spPr>
          <a:xfrm>
            <a:off x="10278688" y="53017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 i="1">
                <a:solidFill>
                  <a:srgbClr val="E8652C"/>
                </a:solidFill>
                <a:latin typeface="Microsoft YaHei"/>
                <a:ea typeface="Microsoft YaHei"/>
                <a:cs typeface="Microsoft YaHei"/>
              </a:rPr>
              <a:t>保守策略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732FA67-7B68-4EB6-BF0C-CFFC752DEE65}"/>
              </a:ext>
            </a:extLst>
          </p:cNvPr>
          <p:cNvSpPr>
            <a:spLocks noGrp="1"/>
          </p:cNvSpPr>
          <p:nvPr/>
        </p:nvSpPr>
        <p:spPr>
          <a:xfrm>
            <a:off x="6255328" y="5941780"/>
            <a:ext cx="182880" cy="182880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E70FB2-42A3-41A4-B7CF-4A9ED45A19E2}"/>
              </a:ext>
            </a:extLst>
          </p:cNvPr>
          <p:cNvSpPr>
            <a:spLocks noGrp="1"/>
          </p:cNvSpPr>
          <p:nvPr/>
        </p:nvSpPr>
        <p:spPr>
          <a:xfrm>
            <a:off x="6621088" y="58503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推荐+强烈推荐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DFF0D94-A79D-45A3-AE70-6424103B5EEF}"/>
              </a:ext>
            </a:extLst>
          </p:cNvPr>
          <p:cNvSpPr>
            <a:spLocks noGrp="1"/>
          </p:cNvSpPr>
          <p:nvPr/>
        </p:nvSpPr>
        <p:spPr>
          <a:xfrm>
            <a:off x="8358448" y="58503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≥65 分就打招呼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3EE5EE-6CB7-4EAC-86DC-C8A713CE4060}"/>
              </a:ext>
            </a:extLst>
          </p:cNvPr>
          <p:cNvSpPr>
            <a:spLocks noGrp="1"/>
          </p:cNvSpPr>
          <p:nvPr/>
        </p:nvSpPr>
        <p:spPr>
          <a:xfrm>
            <a:off x="10278688" y="58503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 i="1">
                <a:solidFill>
                  <a:srgbClr val="2D7DD2"/>
                </a:solidFill>
                <a:latin typeface="Microsoft YaHei"/>
                <a:ea typeface="Microsoft YaHei"/>
                <a:cs typeface="Microsoft YaHei"/>
              </a:rPr>
              <a:t>积极策略</a:t>
            </a:r>
          </a:p>
        </p:txBody>
      </p:sp>
      <p:pic>
        <p:nvPicPr>
          <p:cNvPr id="63" name="Picture 3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211284" y="1371600"/>
            <a:ext cx="4410932" cy="547200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D716FB46-7C8D-4211-9A0C-BA9B6D2E78E8}"/>
              </a:ext>
            </a:extLst>
          </p:cNvPr>
          <p:cNvSpPr>
            <a:spLocks noGrp="1"/>
          </p:cNvSpPr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9 / 15</a:t>
            </a:r>
          </a:p>
        </p:txBody>
      </p:sp>
    </p:spTree>
    <p:extLst>
      <p:ext uri="{BB962C8B-B14F-4D97-AF65-F5344CB8AC3E}">
        <p14:creationId xmlns:p14="http://schemas.microsoft.com/office/powerpoint/2010/main" val="205785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96FE2C-D5DF-4E3A-9102-ECA74081DCCB}"/>
              </a:ext>
            </a:extLst>
          </p:cNvPr>
          <p:cNvSpPr>
            <a:spLocks noGrp="1"/>
          </p:cNvSpPr>
          <p:nvPr/>
        </p:nvSpPr>
        <p:spPr>
          <a:xfrm>
            <a:off x="731520" y="548640"/>
            <a:ext cx="73152" cy="4572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679993-AE2C-46A5-9553-DC43EB877392}"/>
              </a:ext>
            </a:extLst>
          </p:cNvPr>
          <p:cNvSpPr>
            <a:spLocks noGrp="1"/>
          </p:cNvSpPr>
          <p:nvPr/>
        </p:nvSpPr>
        <p:spPr>
          <a:xfrm>
            <a:off x="1005840" y="502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3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评分体系与推荐等级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27849F-7ED8-4A7E-84FB-551936637C92}"/>
              </a:ext>
            </a:extLst>
          </p:cNvPr>
          <p:cNvSpPr>
            <a:spLocks noGrp="1"/>
          </p:cNvSpPr>
          <p:nvPr/>
        </p:nvSpPr>
        <p:spPr>
          <a:xfrm>
            <a:off x="100584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四维评分 + AI 调整 + 简历评估，三层叠加决定推荐等级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A6188E-D87C-46E8-96F2-82A60981EB59}"/>
              </a:ext>
            </a:extLst>
          </p:cNvPr>
          <p:cNvSpPr>
            <a:spLocks noGrp="1"/>
          </p:cNvSpPr>
          <p:nvPr/>
        </p:nvSpPr>
        <p:spPr>
          <a:xfrm>
            <a:off x="73152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四维评分模型（满分 100）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DE7CA16-5E97-4DB9-940C-52C96EF0E8E5}"/>
              </a:ext>
            </a:extLst>
          </p:cNvPr>
          <p:cNvSpPr>
            <a:spLocks noGrp="1"/>
          </p:cNvSpPr>
          <p:nvPr/>
        </p:nvSpPr>
        <p:spPr>
          <a:xfrm>
            <a:off x="731520" y="2194560"/>
            <a:ext cx="25603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1A7BDD-57C7-4DFF-9DB2-A833F7260690}"/>
              </a:ext>
            </a:extLst>
          </p:cNvPr>
          <p:cNvSpPr>
            <a:spLocks noGrp="1"/>
          </p:cNvSpPr>
          <p:nvPr/>
        </p:nvSpPr>
        <p:spPr>
          <a:xfrm>
            <a:off x="731520" y="2194560"/>
            <a:ext cx="2560320" cy="54864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FED05A-2044-4947-8955-126B7BD6DADB}"/>
              </a:ext>
            </a:extLst>
          </p:cNvPr>
          <p:cNvSpPr>
            <a:spLocks noGrp="1"/>
          </p:cNvSpPr>
          <p:nvPr/>
        </p:nvSpPr>
        <p:spPr>
          <a:xfrm>
            <a:off x="914400" y="23774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4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基础分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90462E-F201-46B2-87FA-A7AE7F56D65A}"/>
              </a:ext>
            </a:extLst>
          </p:cNvPr>
          <p:cNvSpPr>
            <a:spLocks noGrp="1"/>
          </p:cNvSpPr>
          <p:nvPr/>
        </p:nvSpPr>
        <p:spPr>
          <a:xfrm>
            <a:off x="914400" y="27432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28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73715E-E8E4-4E4F-A6EF-5C3E25BF1D61}"/>
              </a:ext>
            </a:extLst>
          </p:cNvPr>
          <p:cNvSpPr>
            <a:spLocks noGrp="1"/>
          </p:cNvSpPr>
          <p:nvPr/>
        </p:nvSpPr>
        <p:spPr>
          <a:xfrm>
            <a:off x="914400" y="32918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固定基础分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BDB96F0-7FEA-4F99-BC39-AB0F20ABD136}"/>
              </a:ext>
            </a:extLst>
          </p:cNvPr>
          <p:cNvSpPr>
            <a:spLocks noGrp="1"/>
          </p:cNvSpPr>
          <p:nvPr/>
        </p:nvSpPr>
        <p:spPr>
          <a:xfrm>
            <a:off x="3566160" y="2194560"/>
            <a:ext cx="25603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C50DD8-471C-4F0F-880A-69BA51E82D26}"/>
              </a:ext>
            </a:extLst>
          </p:cNvPr>
          <p:cNvSpPr>
            <a:spLocks noGrp="1"/>
          </p:cNvSpPr>
          <p:nvPr/>
        </p:nvSpPr>
        <p:spPr>
          <a:xfrm>
            <a:off x="3566160" y="2194560"/>
            <a:ext cx="2560320" cy="54864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79C3E8-AE6C-4B1D-8259-2BB3F5285B70}"/>
              </a:ext>
            </a:extLst>
          </p:cNvPr>
          <p:cNvSpPr>
            <a:spLocks noGrp="1"/>
          </p:cNvSpPr>
          <p:nvPr/>
        </p:nvSpPr>
        <p:spPr>
          <a:xfrm>
            <a:off x="3749040" y="23774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4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技能匹配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547D41-B3BA-40C5-A5DB-1B3BA76691DA}"/>
              </a:ext>
            </a:extLst>
          </p:cNvPr>
          <p:cNvSpPr>
            <a:spLocks noGrp="1"/>
          </p:cNvSpPr>
          <p:nvPr/>
        </p:nvSpPr>
        <p:spPr>
          <a:xfrm>
            <a:off x="3749040" y="27432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2800" b="1" i="0">
                <a:solidFill>
                  <a:srgbClr val="2D7DD2"/>
                </a:solidFill>
                <a:latin typeface="Microsoft YaHei"/>
                <a:ea typeface="Microsoft YaHei"/>
                <a:cs typeface="Microsoft YaHei"/>
              </a:rPr>
              <a:t>0~50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778086-8931-41FA-82B2-7FB1885D5108}"/>
              </a:ext>
            </a:extLst>
          </p:cNvPr>
          <p:cNvSpPr>
            <a:spLocks noGrp="1"/>
          </p:cNvSpPr>
          <p:nvPr/>
        </p:nvSpPr>
        <p:spPr>
          <a:xfrm>
            <a:off x="3749040" y="32918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关键词权重 × 命中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E0B361E-0E80-413D-BF1F-EF114DF34DF9}"/>
              </a:ext>
            </a:extLst>
          </p:cNvPr>
          <p:cNvSpPr>
            <a:spLocks noGrp="1"/>
          </p:cNvSpPr>
          <p:nvPr/>
        </p:nvSpPr>
        <p:spPr>
          <a:xfrm>
            <a:off x="6400800" y="2194560"/>
            <a:ext cx="25603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C2B8C5-3C21-4854-9D1C-E80CD0D52DE0}"/>
              </a:ext>
            </a:extLst>
          </p:cNvPr>
          <p:cNvSpPr>
            <a:spLocks noGrp="1"/>
          </p:cNvSpPr>
          <p:nvPr/>
        </p:nvSpPr>
        <p:spPr>
          <a:xfrm>
            <a:off x="6400800" y="2194560"/>
            <a:ext cx="2560320" cy="54864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CBC7FE-FE74-4AE5-ACBB-7151B89C8255}"/>
              </a:ext>
            </a:extLst>
          </p:cNvPr>
          <p:cNvSpPr>
            <a:spLocks noGrp="1"/>
          </p:cNvSpPr>
          <p:nvPr/>
        </p:nvSpPr>
        <p:spPr>
          <a:xfrm>
            <a:off x="6583680" y="23774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4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经验超额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DBC954-C8A6-4ADB-A690-A8766774DBCA}"/>
              </a:ext>
            </a:extLst>
          </p:cNvPr>
          <p:cNvSpPr>
            <a:spLocks noGrp="1"/>
          </p:cNvSpPr>
          <p:nvPr/>
        </p:nvSpPr>
        <p:spPr>
          <a:xfrm>
            <a:off x="6583680" y="27432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2800" b="1" i="0">
                <a:solidFill>
                  <a:srgbClr val="E8652C"/>
                </a:solidFill>
                <a:latin typeface="Microsoft YaHei"/>
                <a:ea typeface="Microsoft YaHei"/>
                <a:cs typeface="Microsoft YaHei"/>
              </a:rPr>
              <a:t>0~15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0FF2DF-5080-4681-9991-7DD90E98B4D6}"/>
              </a:ext>
            </a:extLst>
          </p:cNvPr>
          <p:cNvSpPr>
            <a:spLocks noGrp="1"/>
          </p:cNvSpPr>
          <p:nvPr/>
        </p:nvSpPr>
        <p:spPr>
          <a:xfrm>
            <a:off x="6583680" y="32918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超出要求年限加分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9E9E1A6-6A37-485D-81BB-F1FD74B71F13}"/>
              </a:ext>
            </a:extLst>
          </p:cNvPr>
          <p:cNvSpPr>
            <a:spLocks noGrp="1"/>
          </p:cNvSpPr>
          <p:nvPr/>
        </p:nvSpPr>
        <p:spPr>
          <a:xfrm>
            <a:off x="9235440" y="2194560"/>
            <a:ext cx="25603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381C5EA-23E4-4E53-B70A-85E5A42CB1BF}"/>
              </a:ext>
            </a:extLst>
          </p:cNvPr>
          <p:cNvSpPr>
            <a:spLocks noGrp="1"/>
          </p:cNvSpPr>
          <p:nvPr/>
        </p:nvSpPr>
        <p:spPr>
          <a:xfrm>
            <a:off x="9235440" y="2194560"/>
            <a:ext cx="2560320" cy="54864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FFD08DD-F85C-40EE-902E-0ABFC0A86AAA}"/>
              </a:ext>
            </a:extLst>
          </p:cNvPr>
          <p:cNvSpPr>
            <a:spLocks noGrp="1"/>
          </p:cNvSpPr>
          <p:nvPr/>
        </p:nvSpPr>
        <p:spPr>
          <a:xfrm>
            <a:off x="9418320" y="23774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4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学历档次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AB016E4-05C4-48F7-BADE-9931A1B53FA0}"/>
              </a:ext>
            </a:extLst>
          </p:cNvPr>
          <p:cNvSpPr>
            <a:spLocks noGrp="1"/>
          </p:cNvSpPr>
          <p:nvPr/>
        </p:nvSpPr>
        <p:spPr>
          <a:xfrm>
            <a:off x="9418320" y="27432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2800" b="1" i="0">
                <a:solidFill>
                  <a:srgbClr val="6C5CE7"/>
                </a:solidFill>
                <a:latin typeface="Microsoft YaHei"/>
                <a:ea typeface="Microsoft YaHei"/>
                <a:cs typeface="Microsoft YaHei"/>
              </a:rPr>
              <a:t>0~10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0B5CFA4-BA27-4CE3-843B-4D5C12B5A1CB}"/>
              </a:ext>
            </a:extLst>
          </p:cNvPr>
          <p:cNvSpPr>
            <a:spLocks noGrp="1"/>
          </p:cNvSpPr>
          <p:nvPr/>
        </p:nvSpPr>
        <p:spPr>
          <a:xfrm>
            <a:off x="9418320" y="32918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硕博/本科/大专分档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EFF7D3-611E-4B15-93F0-DE991702FC8C}"/>
              </a:ext>
            </a:extLst>
          </p:cNvPr>
          <p:cNvSpPr>
            <a:spLocks noGrp="1"/>
          </p:cNvSpPr>
          <p:nvPr/>
        </p:nvSpPr>
        <p:spPr>
          <a:xfrm>
            <a:off x="731520" y="4206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推荐等级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A0338EFA-37BD-460B-AD3B-99371FB2A505}"/>
              </a:ext>
            </a:extLst>
          </p:cNvPr>
          <p:cNvSpPr>
            <a:spLocks noGrp="1"/>
          </p:cNvSpPr>
          <p:nvPr/>
        </p:nvSpPr>
        <p:spPr>
          <a:xfrm>
            <a:off x="731520" y="4754880"/>
            <a:ext cx="1645920" cy="3657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强烈推荐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B03CC1D-B195-4116-B152-2D1D81E13B1B}"/>
              </a:ext>
            </a:extLst>
          </p:cNvPr>
          <p:cNvSpPr>
            <a:spLocks noGrp="1"/>
          </p:cNvSpPr>
          <p:nvPr/>
        </p:nvSpPr>
        <p:spPr>
          <a:xfrm>
            <a:off x="2560320" y="47365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≥ 75 分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EEDD414-CC61-4E51-A642-4E099DBDE632}"/>
              </a:ext>
            </a:extLst>
          </p:cNvPr>
          <p:cNvSpPr>
            <a:spLocks noGrp="1"/>
          </p:cNvSpPr>
          <p:nvPr/>
        </p:nvSpPr>
        <p:spPr>
          <a:xfrm>
            <a:off x="3931920" y="47365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自动打招呼（激进策略）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02138441-ABE4-42EC-9AFF-FABD7BAE27BA}"/>
              </a:ext>
            </a:extLst>
          </p:cNvPr>
          <p:cNvSpPr>
            <a:spLocks noGrp="1"/>
          </p:cNvSpPr>
          <p:nvPr/>
        </p:nvSpPr>
        <p:spPr>
          <a:xfrm>
            <a:off x="731520" y="5257800"/>
            <a:ext cx="1645920" cy="365760"/>
          </a:xfrm>
          <a:prstGeom prst="round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推    荐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3D6F1F-32BB-4EDD-9FFB-9D692CBF6DBB}"/>
              </a:ext>
            </a:extLst>
          </p:cNvPr>
          <p:cNvSpPr>
            <a:spLocks noGrp="1"/>
          </p:cNvSpPr>
          <p:nvPr/>
        </p:nvSpPr>
        <p:spPr>
          <a:xfrm>
            <a:off x="2560320" y="523951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65-74 分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17EB9B4-4E9A-4283-B9B0-788F9995CA01}"/>
              </a:ext>
            </a:extLst>
          </p:cNvPr>
          <p:cNvSpPr>
            <a:spLocks noGrp="1"/>
          </p:cNvSpPr>
          <p:nvPr/>
        </p:nvSpPr>
        <p:spPr>
          <a:xfrm>
            <a:off x="3931920" y="523951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自动打招呼（保守策略）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BB1832F6-9CD6-4CFE-AEF8-91AF6044D9BB}"/>
              </a:ext>
            </a:extLst>
          </p:cNvPr>
          <p:cNvSpPr>
            <a:spLocks noGrp="1"/>
          </p:cNvSpPr>
          <p:nvPr/>
        </p:nvSpPr>
        <p:spPr>
          <a:xfrm>
            <a:off x="731520" y="5760720"/>
            <a:ext cx="1645920" cy="3657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    定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F62C2B6-2F0A-4981-8B41-4CFE70CE7DEF}"/>
              </a:ext>
            </a:extLst>
          </p:cNvPr>
          <p:cNvSpPr>
            <a:spLocks noGrp="1"/>
          </p:cNvSpPr>
          <p:nvPr/>
        </p:nvSpPr>
        <p:spPr>
          <a:xfrm>
            <a:off x="2560320" y="574243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55-64 分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F97AABC-5EAB-49B4-AE5D-F885FB95FB29}"/>
              </a:ext>
            </a:extLst>
          </p:cNvPr>
          <p:cNvSpPr>
            <a:spLocks noGrp="1"/>
          </p:cNvSpPr>
          <p:nvPr/>
        </p:nvSpPr>
        <p:spPr>
          <a:xfrm>
            <a:off x="3931920" y="57424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仅保存，不打招呼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FDA5E514-279E-47D8-A402-6FDD830FE81D}"/>
              </a:ext>
            </a:extLst>
          </p:cNvPr>
          <p:cNvSpPr>
            <a:spLocks noGrp="1"/>
          </p:cNvSpPr>
          <p:nvPr/>
        </p:nvSpPr>
        <p:spPr>
          <a:xfrm>
            <a:off x="731520" y="6263640"/>
            <a:ext cx="164592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淘    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B5DB22A-C88D-457F-B5FF-0FD40812897E}"/>
              </a:ext>
            </a:extLst>
          </p:cNvPr>
          <p:cNvSpPr>
            <a:spLocks noGrp="1"/>
          </p:cNvSpPr>
          <p:nvPr/>
        </p:nvSpPr>
        <p:spPr>
          <a:xfrm>
            <a:off x="2560320" y="62453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&lt; 55 分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CF7C80-2DE6-4DE9-A1D7-3612B3A491A7}"/>
              </a:ext>
            </a:extLst>
          </p:cNvPr>
          <p:cNvSpPr>
            <a:spLocks noGrp="1"/>
          </p:cNvSpPr>
          <p:nvPr/>
        </p:nvSpPr>
        <p:spPr>
          <a:xfrm>
            <a:off x="3931920" y="624535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不进入结果统计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7BB12F6-E77D-452B-8857-E22C6BDF249B}"/>
              </a:ext>
            </a:extLst>
          </p:cNvPr>
          <p:cNvSpPr>
            <a:spLocks noGrp="1"/>
          </p:cNvSpPr>
          <p:nvPr/>
        </p:nvSpPr>
        <p:spPr>
          <a:xfrm>
            <a:off x="6858000" y="4206240"/>
            <a:ext cx="45720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119F603-5FC1-4B38-960E-59E788789FE3}"/>
              </a:ext>
            </a:extLst>
          </p:cNvPr>
          <p:cNvSpPr>
            <a:spLocks noGrp="1"/>
          </p:cNvSpPr>
          <p:nvPr/>
        </p:nvSpPr>
        <p:spPr>
          <a:xfrm>
            <a:off x="7132320" y="42976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🤖 AI 二次评估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E266E42-C95B-4E69-AACE-63437F38ED57}"/>
              </a:ext>
            </a:extLst>
          </p:cNvPr>
          <p:cNvSpPr>
            <a:spLocks noGrp="1"/>
          </p:cNvSpPr>
          <p:nvPr/>
        </p:nvSpPr>
        <p:spPr>
          <a:xfrm>
            <a:off x="7132320" y="472930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• 对 ≥55 分候选人做 AI 二次评估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D2B7402-22F5-4A6B-B4FD-F7D83B6B420E}"/>
              </a:ext>
            </a:extLst>
          </p:cNvPr>
          <p:cNvSpPr>
            <a:spLocks noGrp="1"/>
          </p:cNvSpPr>
          <p:nvPr/>
        </p:nvSpPr>
        <p:spPr>
          <a:xfrm>
            <a:off x="7132320" y="509506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• 调整分范围：±10 分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6DB23D6-40D3-43EA-9FDD-806FF1BE5BE3}"/>
              </a:ext>
            </a:extLst>
          </p:cNvPr>
          <p:cNvSpPr>
            <a:spLocks noGrp="1"/>
          </p:cNvSpPr>
          <p:nvPr/>
        </p:nvSpPr>
        <p:spPr>
          <a:xfrm>
            <a:off x="7132320" y="546082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• 叠加公式：规则分 + AI 调整 + 简历调整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B69409F-AD10-4B48-9AB0-6C81DFB0D0FC}"/>
              </a:ext>
            </a:extLst>
          </p:cNvPr>
          <p:cNvSpPr>
            <a:spLocks noGrp="1"/>
          </p:cNvSpPr>
          <p:nvPr/>
        </p:nvSpPr>
        <p:spPr>
          <a:xfrm>
            <a:off x="7132320" y="582658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• 默认并发 5 路，429 限流退避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3B2BB8-C7B3-4B3B-A8D8-41D62E35EE3A}"/>
              </a:ext>
            </a:extLst>
          </p:cNvPr>
          <p:cNvSpPr>
            <a:spLocks noGrp="1"/>
          </p:cNvSpPr>
          <p:nvPr/>
        </p:nvSpPr>
        <p:spPr>
          <a:xfrm>
            <a:off x="7132320" y="619234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• 简历支持 PDF/Word/TXT/MD/RTF/HTML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87300D9-9D11-48BC-A6DB-C03611208110}"/>
              </a:ext>
            </a:extLst>
          </p:cNvPr>
          <p:cNvSpPr>
            <a:spLocks noGrp="1"/>
          </p:cNvSpPr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10 / 15</a:t>
            </a:r>
          </a:p>
        </p:txBody>
      </p:sp>
    </p:spTree>
    <p:extLst>
      <p:ext uri="{BB962C8B-B14F-4D97-AF65-F5344CB8AC3E}">
        <p14:creationId xmlns:p14="http://schemas.microsoft.com/office/powerpoint/2010/main" val="8775754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2CCD73C-3BDF-45D2-A1BC-BD485E5E186E}"/>
              </a:ext>
            </a:extLst>
          </p:cNvPr>
          <p:cNvSpPr>
            <a:spLocks noGrp="1"/>
          </p:cNvSpPr>
          <p:nvPr/>
        </p:nvSpPr>
        <p:spPr>
          <a:xfrm>
            <a:off x="731520" y="548640"/>
            <a:ext cx="73152" cy="4572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E0E680-6E03-4B58-A5D4-9E205865AB78}"/>
              </a:ext>
            </a:extLst>
          </p:cNvPr>
          <p:cNvSpPr>
            <a:spLocks noGrp="1"/>
          </p:cNvSpPr>
          <p:nvPr/>
        </p:nvSpPr>
        <p:spPr>
          <a:xfrm>
            <a:off x="1005840" y="502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3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筛选结果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64B2A1-3F09-4EBA-A1B5-AF593297CE4E}"/>
              </a:ext>
            </a:extLst>
          </p:cNvPr>
          <p:cNvSpPr>
            <a:spLocks noGrp="1"/>
          </p:cNvSpPr>
          <p:nvPr/>
        </p:nvSpPr>
        <p:spPr>
          <a:xfrm>
            <a:off x="100584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候选人列表 · 黑名单 · 导入简历做二次评估 · 导出 Excel</a:t>
            </a:r>
          </a:p>
        </p:txBody>
      </p:sp>
      <p:pic>
        <p:nvPicPr>
          <p:cNvPr id="33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1520" y="1940175"/>
            <a:ext cx="6553059" cy="378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E7FFE7-26FB-483B-9252-2E9887CA8995}"/>
              </a:ext>
            </a:extLst>
          </p:cNvPr>
          <p:cNvSpPr>
            <a:spLocks noGrp="1"/>
          </p:cNvSpPr>
          <p:nvPr/>
        </p:nvSpPr>
        <p:spPr>
          <a:xfrm>
            <a:off x="7772400" y="1117215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常用操作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CBD3370-CEF7-4D54-B79E-5D61DA13BDB5}"/>
              </a:ext>
            </a:extLst>
          </p:cNvPr>
          <p:cNvSpPr>
            <a:spLocks noGrp="1"/>
          </p:cNvSpPr>
          <p:nvPr/>
        </p:nvSpPr>
        <p:spPr>
          <a:xfrm>
            <a:off x="7772400" y="2286000"/>
            <a:ext cx="3840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2CA9D3-C569-4D72-A072-1A6392C4C3E7}"/>
              </a:ext>
            </a:extLst>
          </p:cNvPr>
          <p:cNvSpPr>
            <a:spLocks noGrp="1"/>
          </p:cNvSpPr>
          <p:nvPr/>
        </p:nvSpPr>
        <p:spPr>
          <a:xfrm>
            <a:off x="7955279" y="1803015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0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AC0EE9-A492-4C4C-A711-9080AAE7FE35}"/>
              </a:ext>
            </a:extLst>
          </p:cNvPr>
          <p:cNvSpPr>
            <a:spLocks noGrp="1"/>
          </p:cNvSpPr>
          <p:nvPr/>
        </p:nvSpPr>
        <p:spPr>
          <a:xfrm>
            <a:off x="8412480" y="1775583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刷新结果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B9362E-C6E3-4DD3-A220-7B9D55ABCA6A}"/>
              </a:ext>
            </a:extLst>
          </p:cNvPr>
          <p:cNvSpPr>
            <a:spLocks noGrp="1"/>
          </p:cNvSpPr>
          <p:nvPr/>
        </p:nvSpPr>
        <p:spPr>
          <a:xfrm>
            <a:off x="9875520" y="1803015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从 JSON 重新加载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AC5CF14-2310-4043-8781-9FA1BCD64ABC}"/>
              </a:ext>
            </a:extLst>
          </p:cNvPr>
          <p:cNvSpPr>
            <a:spLocks noGrp="1"/>
          </p:cNvSpPr>
          <p:nvPr/>
        </p:nvSpPr>
        <p:spPr>
          <a:xfrm>
            <a:off x="7772400" y="2926080"/>
            <a:ext cx="3840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993206-5F24-4FD2-86E3-C674AEBD0A11}"/>
              </a:ext>
            </a:extLst>
          </p:cNvPr>
          <p:cNvSpPr>
            <a:spLocks noGrp="1"/>
          </p:cNvSpPr>
          <p:nvPr/>
        </p:nvSpPr>
        <p:spPr>
          <a:xfrm>
            <a:off x="7955279" y="2443095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0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📊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F3739B-2D2C-4AD9-933C-01541FC30DCB}"/>
              </a:ext>
            </a:extLst>
          </p:cNvPr>
          <p:cNvSpPr>
            <a:spLocks noGrp="1"/>
          </p:cNvSpPr>
          <p:nvPr/>
        </p:nvSpPr>
        <p:spPr>
          <a:xfrm>
            <a:off x="8412480" y="2415663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导出 Excel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E3E886-734F-47DB-9B5A-68C36BF77D88}"/>
              </a:ext>
            </a:extLst>
          </p:cNvPr>
          <p:cNvSpPr>
            <a:spLocks noGrp="1"/>
          </p:cNvSpPr>
          <p:nvPr/>
        </p:nvSpPr>
        <p:spPr>
          <a:xfrm>
            <a:off x="9875520" y="2443095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生成/更新 XLSX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82E195D-AC78-4481-94A1-B44B90231983}"/>
              </a:ext>
            </a:extLst>
          </p:cNvPr>
          <p:cNvSpPr>
            <a:spLocks noGrp="1"/>
          </p:cNvSpPr>
          <p:nvPr/>
        </p:nvSpPr>
        <p:spPr>
          <a:xfrm>
            <a:off x="7772400" y="3566160"/>
            <a:ext cx="3840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5B605F-22E4-4579-AEC2-0CF80C44DED0}"/>
              </a:ext>
            </a:extLst>
          </p:cNvPr>
          <p:cNvSpPr>
            <a:spLocks noGrp="1"/>
          </p:cNvSpPr>
          <p:nvPr/>
        </p:nvSpPr>
        <p:spPr>
          <a:xfrm>
            <a:off x="7955279" y="308317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0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📂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9BC939-1AA8-4055-BEBC-03A1EB34CD5E}"/>
              </a:ext>
            </a:extLst>
          </p:cNvPr>
          <p:cNvSpPr>
            <a:spLocks noGrp="1"/>
          </p:cNvSpPr>
          <p:nvPr/>
        </p:nvSpPr>
        <p:spPr>
          <a:xfrm>
            <a:off x="8412480" y="3055743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打开 JSON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AC44BD5-D625-4B87-9933-B378171AA9BD}"/>
              </a:ext>
            </a:extLst>
          </p:cNvPr>
          <p:cNvSpPr>
            <a:spLocks noGrp="1"/>
          </p:cNvSpPr>
          <p:nvPr/>
        </p:nvSpPr>
        <p:spPr>
          <a:xfrm>
            <a:off x="9875520" y="308317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用默认程序打开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035ECD3-7B95-4CBC-9993-8E5CA20A156C}"/>
              </a:ext>
            </a:extLst>
          </p:cNvPr>
          <p:cNvSpPr>
            <a:spLocks noGrp="1"/>
          </p:cNvSpPr>
          <p:nvPr/>
        </p:nvSpPr>
        <p:spPr>
          <a:xfrm>
            <a:off x="7772400" y="4206240"/>
            <a:ext cx="3840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4946B0-230A-4C27-B273-007B6402BB8D}"/>
              </a:ext>
            </a:extLst>
          </p:cNvPr>
          <p:cNvSpPr>
            <a:spLocks noGrp="1"/>
          </p:cNvSpPr>
          <p:nvPr/>
        </p:nvSpPr>
        <p:spPr>
          <a:xfrm>
            <a:off x="7955279" y="372325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0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🗑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53DF49-9BEC-4230-9CB5-3574F8949ADF}"/>
              </a:ext>
            </a:extLst>
          </p:cNvPr>
          <p:cNvSpPr>
            <a:spLocks noGrp="1"/>
          </p:cNvSpPr>
          <p:nvPr/>
        </p:nvSpPr>
        <p:spPr>
          <a:xfrm>
            <a:off x="8412480" y="369582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清空候选人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B9F00A-F8A5-4FA3-86F8-D424141F623A}"/>
              </a:ext>
            </a:extLst>
          </p:cNvPr>
          <p:cNvSpPr>
            <a:spLocks noGrp="1"/>
          </p:cNvSpPr>
          <p:nvPr/>
        </p:nvSpPr>
        <p:spPr>
          <a:xfrm>
            <a:off x="9875520" y="372325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操作前备份；黑名单记录保留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1208E39-5A4E-4912-B223-2EABD58598AE}"/>
              </a:ext>
            </a:extLst>
          </p:cNvPr>
          <p:cNvSpPr>
            <a:spLocks noGrp="1"/>
          </p:cNvSpPr>
          <p:nvPr/>
        </p:nvSpPr>
        <p:spPr>
          <a:xfrm>
            <a:off x="7772400" y="4500495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右键菜单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83C42D-AF2A-41EF-9876-85EA11C3023B}"/>
              </a:ext>
            </a:extLst>
          </p:cNvPr>
          <p:cNvSpPr>
            <a:spLocks noGrp="1"/>
          </p:cNvSpPr>
          <p:nvPr/>
        </p:nvSpPr>
        <p:spPr>
          <a:xfrm>
            <a:off x="7955279" y="5049135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▸ 查看详情 / 更新跟进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1FC19A6-5A7D-42E0-B0CA-922C8ED47A31}"/>
              </a:ext>
            </a:extLst>
          </p:cNvPr>
          <p:cNvSpPr>
            <a:spLocks noGrp="1"/>
          </p:cNvSpPr>
          <p:nvPr/>
        </p:nvSpPr>
        <p:spPr>
          <a:xfrm>
            <a:off x="7955279" y="536917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▸ 单独打招呼 / 加入黑名单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BBABE0C-68C6-426D-84A4-059BE8179DED}"/>
              </a:ext>
            </a:extLst>
          </p:cNvPr>
          <p:cNvSpPr>
            <a:spLocks noGrp="1"/>
          </p:cNvSpPr>
          <p:nvPr/>
        </p:nvSpPr>
        <p:spPr>
          <a:xfrm>
            <a:off x="7955279" y="5689215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▸ 标记反馈 / 导入简历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442C50B-40C8-4DE8-9E86-DB3C8758CF4A}"/>
              </a:ext>
            </a:extLst>
          </p:cNvPr>
          <p:cNvSpPr>
            <a:spLocks noGrp="1"/>
          </p:cNvSpPr>
          <p:nvPr/>
        </p:nvSpPr>
        <p:spPr>
          <a:xfrm>
            <a:off x="7955279" y="600925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▸ 移出黑名单 / 导出选中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4D8DF5D-5EA9-40E4-A077-6EADB1598B08}"/>
              </a:ext>
            </a:extLst>
          </p:cNvPr>
          <p:cNvSpPr>
            <a:spLocks noGrp="1"/>
          </p:cNvSpPr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11 / 15</a:t>
            </a:r>
          </a:p>
        </p:txBody>
      </p:sp>
    </p:spTree>
    <p:extLst>
      <p:ext uri="{BB962C8B-B14F-4D97-AF65-F5344CB8AC3E}">
        <p14:creationId xmlns:p14="http://schemas.microsoft.com/office/powerpoint/2010/main" val="799509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0F456E-95F2-43D2-99CB-C2E390E09B78}"/>
              </a:ext>
            </a:extLst>
          </p:cNvPr>
          <p:cNvSpPr>
            <a:spLocks noGrp="1"/>
          </p:cNvSpPr>
          <p:nvPr/>
        </p:nvSpPr>
        <p:spPr>
          <a:xfrm>
            <a:off x="731520" y="548640"/>
            <a:ext cx="73152" cy="4572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056511-4546-4791-96DD-A584783AA2FE}"/>
              </a:ext>
            </a:extLst>
          </p:cNvPr>
          <p:cNvSpPr>
            <a:spLocks noGrp="1"/>
          </p:cNvSpPr>
          <p:nvPr/>
        </p:nvSpPr>
        <p:spPr>
          <a:xfrm>
            <a:off x="1005840" y="502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3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数据统计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98BC7A-299D-4B7B-914C-05090C8C950F}"/>
              </a:ext>
            </a:extLst>
          </p:cNvPr>
          <p:cNvSpPr>
            <a:spLocks noGrp="1"/>
          </p:cNvSpPr>
          <p:nvPr/>
        </p:nvSpPr>
        <p:spPr>
          <a:xfrm>
            <a:off x="100584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按岗位、时间范围和跟进转化统计，判断规则质量</a:t>
            </a:r>
          </a:p>
        </p:txBody>
      </p:sp>
      <p:pic>
        <p:nvPicPr>
          <p:cNvPr id="46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59806" y="1893276"/>
            <a:ext cx="6553058" cy="378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148B67-D93D-4218-9144-203BEA10AADB}"/>
              </a:ext>
            </a:extLst>
          </p:cNvPr>
          <p:cNvSpPr>
            <a:spLocks noGrp="1"/>
          </p:cNvSpPr>
          <p:nvPr/>
        </p:nvSpPr>
        <p:spPr>
          <a:xfrm>
            <a:off x="7095744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统计指标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AC4742F-F237-4CD7-A994-351FFA4FFA4F}"/>
              </a:ext>
            </a:extLst>
          </p:cNvPr>
          <p:cNvSpPr>
            <a:spLocks noGrp="1"/>
          </p:cNvSpPr>
          <p:nvPr/>
        </p:nvSpPr>
        <p:spPr>
          <a:xfrm>
            <a:off x="7095744" y="192024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73FA0D-8639-4281-849E-4F0E636019E2}"/>
              </a:ext>
            </a:extLst>
          </p:cNvPr>
          <p:cNvSpPr>
            <a:spLocks noGrp="1"/>
          </p:cNvSpPr>
          <p:nvPr/>
        </p:nvSpPr>
        <p:spPr>
          <a:xfrm>
            <a:off x="7095744" y="1920240"/>
            <a:ext cx="54864" cy="91440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177CC1-5EC4-42BD-9781-B1F04FD60E2C}"/>
              </a:ext>
            </a:extLst>
          </p:cNvPr>
          <p:cNvSpPr>
            <a:spLocks noGrp="1"/>
          </p:cNvSpPr>
          <p:nvPr/>
        </p:nvSpPr>
        <p:spPr>
          <a:xfrm>
            <a:off x="7278624" y="20116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总候选人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122069-2B41-4074-984D-537397B8FB27}"/>
              </a:ext>
            </a:extLst>
          </p:cNvPr>
          <p:cNvSpPr>
            <a:spLocks noGrp="1"/>
          </p:cNvSpPr>
          <p:nvPr/>
        </p:nvSpPr>
        <p:spPr>
          <a:xfrm>
            <a:off x="7278624" y="2377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≥55 分的人数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F148F7C-3FBB-4830-BD44-434E8CE114A6}"/>
              </a:ext>
            </a:extLst>
          </p:cNvPr>
          <p:cNvSpPr>
            <a:spLocks noGrp="1"/>
          </p:cNvSpPr>
          <p:nvPr/>
        </p:nvSpPr>
        <p:spPr>
          <a:xfrm>
            <a:off x="9564624" y="192024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D1D94A-4E8D-4E5E-9B97-5563A15370DC}"/>
              </a:ext>
            </a:extLst>
          </p:cNvPr>
          <p:cNvSpPr>
            <a:spLocks noGrp="1"/>
          </p:cNvSpPr>
          <p:nvPr/>
        </p:nvSpPr>
        <p:spPr>
          <a:xfrm>
            <a:off x="9564624" y="1920240"/>
            <a:ext cx="54864" cy="914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14C1FC-7847-46AD-95E6-4DA369FF389F}"/>
              </a:ext>
            </a:extLst>
          </p:cNvPr>
          <p:cNvSpPr>
            <a:spLocks noGrp="1"/>
          </p:cNvSpPr>
          <p:nvPr/>
        </p:nvSpPr>
        <p:spPr>
          <a:xfrm>
            <a:off x="9747503" y="20116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强烈推荐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8F9DEE-9BDE-4764-A622-378380B41067}"/>
              </a:ext>
            </a:extLst>
          </p:cNvPr>
          <p:cNvSpPr>
            <a:spLocks noGrp="1"/>
          </p:cNvSpPr>
          <p:nvPr/>
        </p:nvSpPr>
        <p:spPr>
          <a:xfrm>
            <a:off x="9747503" y="2377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≥75 分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81E5A52-49EB-4910-998B-03D8B1CEB225}"/>
              </a:ext>
            </a:extLst>
          </p:cNvPr>
          <p:cNvSpPr>
            <a:spLocks noGrp="1"/>
          </p:cNvSpPr>
          <p:nvPr/>
        </p:nvSpPr>
        <p:spPr>
          <a:xfrm>
            <a:off x="7095744" y="297180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0632F30-757E-4BB3-8206-0C2FA495265A}"/>
              </a:ext>
            </a:extLst>
          </p:cNvPr>
          <p:cNvSpPr>
            <a:spLocks noGrp="1"/>
          </p:cNvSpPr>
          <p:nvPr/>
        </p:nvSpPr>
        <p:spPr>
          <a:xfrm>
            <a:off x="7095744" y="2971800"/>
            <a:ext cx="54864" cy="91440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3B87A2-7F51-48FC-B784-456848B7C833}"/>
              </a:ext>
            </a:extLst>
          </p:cNvPr>
          <p:cNvSpPr>
            <a:spLocks noGrp="1"/>
          </p:cNvSpPr>
          <p:nvPr/>
        </p:nvSpPr>
        <p:spPr>
          <a:xfrm>
            <a:off x="7278624" y="30632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推荐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BBCA83-E79E-45DE-A243-C7BC14FE5D28}"/>
              </a:ext>
            </a:extLst>
          </p:cNvPr>
          <p:cNvSpPr>
            <a:spLocks noGrp="1"/>
          </p:cNvSpPr>
          <p:nvPr/>
        </p:nvSpPr>
        <p:spPr>
          <a:xfrm>
            <a:off x="7278624" y="34290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65-74 分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B52E6EA-9D3D-4240-9D8B-3239C94ADC08}"/>
              </a:ext>
            </a:extLst>
          </p:cNvPr>
          <p:cNvSpPr>
            <a:spLocks noGrp="1"/>
          </p:cNvSpPr>
          <p:nvPr/>
        </p:nvSpPr>
        <p:spPr>
          <a:xfrm>
            <a:off x="9564624" y="297180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6BBDE52-0491-48F4-8C09-6A1EEFF4CAB7}"/>
              </a:ext>
            </a:extLst>
          </p:cNvPr>
          <p:cNvSpPr>
            <a:spLocks noGrp="1"/>
          </p:cNvSpPr>
          <p:nvPr/>
        </p:nvSpPr>
        <p:spPr>
          <a:xfrm>
            <a:off x="9564624" y="2971800"/>
            <a:ext cx="54864" cy="9144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FE2B0AD-DCD0-4AE0-BFA4-DC25450EBE53}"/>
              </a:ext>
            </a:extLst>
          </p:cNvPr>
          <p:cNvSpPr>
            <a:spLocks noGrp="1"/>
          </p:cNvSpPr>
          <p:nvPr/>
        </p:nvSpPr>
        <p:spPr>
          <a:xfrm>
            <a:off x="9747503" y="30632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待定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9BAE3A-6B6C-4A0C-8A16-7DD6F253F6DA}"/>
              </a:ext>
            </a:extLst>
          </p:cNvPr>
          <p:cNvSpPr>
            <a:spLocks noGrp="1"/>
          </p:cNvSpPr>
          <p:nvPr/>
        </p:nvSpPr>
        <p:spPr>
          <a:xfrm>
            <a:off x="9747503" y="34290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55-64 分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9C838E7-CFBD-442B-AB87-C40AA5AE1AB8}"/>
              </a:ext>
            </a:extLst>
          </p:cNvPr>
          <p:cNvSpPr>
            <a:spLocks noGrp="1"/>
          </p:cNvSpPr>
          <p:nvPr/>
        </p:nvSpPr>
        <p:spPr>
          <a:xfrm>
            <a:off x="7095744" y="4023359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8D8AF2B-4C71-47CD-AE94-028B2A4F9A9C}"/>
              </a:ext>
            </a:extLst>
          </p:cNvPr>
          <p:cNvSpPr>
            <a:spLocks noGrp="1"/>
          </p:cNvSpPr>
          <p:nvPr/>
        </p:nvSpPr>
        <p:spPr>
          <a:xfrm>
            <a:off x="7095744" y="4023359"/>
            <a:ext cx="54864" cy="9144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6A06FF-6C3B-4318-B9CD-92A8B00DA862}"/>
              </a:ext>
            </a:extLst>
          </p:cNvPr>
          <p:cNvSpPr>
            <a:spLocks noGrp="1"/>
          </p:cNvSpPr>
          <p:nvPr/>
        </p:nvSpPr>
        <p:spPr>
          <a:xfrm>
            <a:off x="7278624" y="411479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已打招呼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CE08EEF-B5F8-405E-B411-3B664604BFF6}"/>
              </a:ext>
            </a:extLst>
          </p:cNvPr>
          <p:cNvSpPr>
            <a:spLocks noGrp="1"/>
          </p:cNvSpPr>
          <p:nvPr/>
        </p:nvSpPr>
        <p:spPr>
          <a:xfrm>
            <a:off x="7278624" y="4480559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已发送消息数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6FFB7908-1252-4929-B03C-90EBD0B28AA6}"/>
              </a:ext>
            </a:extLst>
          </p:cNvPr>
          <p:cNvSpPr>
            <a:spLocks noGrp="1"/>
          </p:cNvSpPr>
          <p:nvPr/>
        </p:nvSpPr>
        <p:spPr>
          <a:xfrm>
            <a:off x="9564624" y="4023359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A1118B3-3E5C-46C3-8E7A-B266E9BE7537}"/>
              </a:ext>
            </a:extLst>
          </p:cNvPr>
          <p:cNvSpPr>
            <a:spLocks noGrp="1"/>
          </p:cNvSpPr>
          <p:nvPr/>
        </p:nvSpPr>
        <p:spPr>
          <a:xfrm>
            <a:off x="9564624" y="4023359"/>
            <a:ext cx="54864" cy="9144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421F484-9172-4AA2-8A03-29EBD3000647}"/>
              </a:ext>
            </a:extLst>
          </p:cNvPr>
          <p:cNvSpPr>
            <a:spLocks noGrp="1"/>
          </p:cNvSpPr>
          <p:nvPr/>
        </p:nvSpPr>
        <p:spPr>
          <a:xfrm>
            <a:off x="9747503" y="4114799"/>
            <a:ext cx="201168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已反馈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248C213-0174-4C79-B53D-615B4AD726EF}"/>
              </a:ext>
            </a:extLst>
          </p:cNvPr>
          <p:cNvSpPr>
            <a:spLocks noGrp="1"/>
          </p:cNvSpPr>
          <p:nvPr/>
        </p:nvSpPr>
        <p:spPr>
          <a:xfrm>
            <a:off x="9747503" y="4480559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合适/误推/误杀/放弃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77BC4044-37C7-4A98-B61E-B41C767F0443}"/>
              </a:ext>
            </a:extLst>
          </p:cNvPr>
          <p:cNvSpPr>
            <a:spLocks noGrp="1"/>
          </p:cNvSpPr>
          <p:nvPr/>
        </p:nvSpPr>
        <p:spPr>
          <a:xfrm>
            <a:off x="7095744" y="507492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1B8BFC0-ADDD-4583-91EF-C1CDB3EA34CC}"/>
              </a:ext>
            </a:extLst>
          </p:cNvPr>
          <p:cNvSpPr>
            <a:spLocks noGrp="1"/>
          </p:cNvSpPr>
          <p:nvPr/>
        </p:nvSpPr>
        <p:spPr>
          <a:xfrm>
            <a:off x="7095744" y="5074920"/>
            <a:ext cx="54864" cy="914400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A5495B7-EA1D-4FDC-9BFF-817F7089C393}"/>
              </a:ext>
            </a:extLst>
          </p:cNvPr>
          <p:cNvSpPr>
            <a:spLocks noGrp="1"/>
          </p:cNvSpPr>
          <p:nvPr/>
        </p:nvSpPr>
        <p:spPr>
          <a:xfrm>
            <a:off x="7278624" y="5166359"/>
            <a:ext cx="201168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回复率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794DF9F-D3DD-4D9A-82F6-E21BD13B80C0}"/>
              </a:ext>
            </a:extLst>
          </p:cNvPr>
          <p:cNvSpPr>
            <a:spLocks noGrp="1"/>
          </p:cNvSpPr>
          <p:nvPr/>
        </p:nvSpPr>
        <p:spPr>
          <a:xfrm>
            <a:off x="7278624" y="55321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已回复 ÷ 已沟通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3F0F7DEF-3F52-43A3-B444-7214B206A5E3}"/>
              </a:ext>
            </a:extLst>
          </p:cNvPr>
          <p:cNvSpPr>
            <a:spLocks noGrp="1"/>
          </p:cNvSpPr>
          <p:nvPr/>
        </p:nvSpPr>
        <p:spPr>
          <a:xfrm>
            <a:off x="9564624" y="507492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12304C7-508D-4632-9D1A-C341D7D05163}"/>
              </a:ext>
            </a:extLst>
          </p:cNvPr>
          <p:cNvSpPr>
            <a:spLocks noGrp="1"/>
          </p:cNvSpPr>
          <p:nvPr/>
        </p:nvSpPr>
        <p:spPr>
          <a:xfrm>
            <a:off x="9564624" y="5074920"/>
            <a:ext cx="54864" cy="914400"/>
          </a:xfrm>
          <a:prstGeom prst="rect">
            <a:avLst/>
          </a:prstGeom>
          <a:solidFill>
            <a:srgbClr val="6B7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89958A8-7FEF-442E-82D8-5877F70DFED9}"/>
              </a:ext>
            </a:extLst>
          </p:cNvPr>
          <p:cNvSpPr>
            <a:spLocks noGrp="1"/>
          </p:cNvSpPr>
          <p:nvPr/>
        </p:nvSpPr>
        <p:spPr>
          <a:xfrm>
            <a:off x="9747503" y="5166359"/>
            <a:ext cx="201168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约面率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E8CF7DF-9952-4942-9A45-DBAEBAD52D09}"/>
              </a:ext>
            </a:extLst>
          </p:cNvPr>
          <p:cNvSpPr>
            <a:spLocks noGrp="1"/>
          </p:cNvSpPr>
          <p:nvPr/>
        </p:nvSpPr>
        <p:spPr>
          <a:xfrm>
            <a:off x="9747503" y="55321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已约面 ÷ 已回复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97B6EB6-5FDF-415A-BBB4-B2BD194EC625}"/>
              </a:ext>
            </a:extLst>
          </p:cNvPr>
          <p:cNvSpPr>
            <a:spLocks noGrp="1"/>
          </p:cNvSpPr>
          <p:nvPr/>
        </p:nvSpPr>
        <p:spPr>
          <a:xfrm>
            <a:off x="777716" y="6176751"/>
            <a:ext cx="1069848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9BCEE5B-433B-43A5-8549-3417B1C3C381}"/>
              </a:ext>
            </a:extLst>
          </p:cNvPr>
          <p:cNvSpPr>
            <a:spLocks noGrp="1"/>
          </p:cNvSpPr>
          <p:nvPr/>
        </p:nvSpPr>
        <p:spPr>
          <a:xfrm>
            <a:off x="1143476" y="6222471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💡 误推率高，先查关键词/必要条件；回复率低，先查话术、岗位吸引力和沟通节奏。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7C36883-9A0A-4DCB-B2F4-5C52510D2432}"/>
              </a:ext>
            </a:extLst>
          </p:cNvPr>
          <p:cNvSpPr>
            <a:spLocks noGrp="1"/>
          </p:cNvSpPr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12 / 15</a:t>
            </a:r>
          </a:p>
        </p:txBody>
      </p:sp>
    </p:spTree>
    <p:extLst>
      <p:ext uri="{BB962C8B-B14F-4D97-AF65-F5344CB8AC3E}">
        <p14:creationId xmlns:p14="http://schemas.microsoft.com/office/powerpoint/2010/main" val="1037554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ADB236-1462-4EC1-A265-D84A5AB8D9FF}"/>
              </a:ext>
            </a:extLst>
          </p:cNvPr>
          <p:cNvSpPr>
            <a:spLocks noGrp="1"/>
          </p:cNvSpPr>
          <p:nvPr/>
        </p:nvSpPr>
        <p:spPr>
          <a:xfrm>
            <a:off x="731520" y="548640"/>
            <a:ext cx="73152" cy="4572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3B5C1A-44AB-45AB-A45B-B0B3D5ABAB34}"/>
              </a:ext>
            </a:extLst>
          </p:cNvPr>
          <p:cNvSpPr>
            <a:spLocks noGrp="1"/>
          </p:cNvSpPr>
          <p:nvPr/>
        </p:nvSpPr>
        <p:spPr>
          <a:xfrm>
            <a:off x="1005840" y="502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3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推荐操作习惯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A72EF8-CB45-4B4E-BDF7-18A7154F0067}"/>
              </a:ext>
            </a:extLst>
          </p:cNvPr>
          <p:cNvSpPr>
            <a:spLocks noGrp="1"/>
          </p:cNvSpPr>
          <p:nvPr/>
        </p:nvSpPr>
        <p:spPr>
          <a:xfrm>
            <a:off x="100584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新岗位先试跑，成熟岗位日常跑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B48225C-5270-47D8-9171-6C51168F9011}"/>
              </a:ext>
            </a:extLst>
          </p:cNvPr>
          <p:cNvSpPr>
            <a:spLocks noGrp="1"/>
          </p:cNvSpPr>
          <p:nvPr/>
        </p:nvSpPr>
        <p:spPr>
          <a:xfrm>
            <a:off x="548640" y="1645920"/>
            <a:ext cx="530352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1165B9-8C22-486A-8EB3-CDF903020C8E}"/>
              </a:ext>
            </a:extLst>
          </p:cNvPr>
          <p:cNvSpPr>
            <a:spLocks noGrp="1"/>
          </p:cNvSpPr>
          <p:nvPr/>
        </p:nvSpPr>
        <p:spPr>
          <a:xfrm>
            <a:off x="548640" y="1645920"/>
            <a:ext cx="5303520" cy="54864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CC59B78-34A9-402E-A9C0-A054670298D9}"/>
              </a:ext>
            </a:extLst>
          </p:cNvPr>
          <p:cNvSpPr>
            <a:spLocks noGrp="1"/>
          </p:cNvSpPr>
          <p:nvPr/>
        </p:nvSpPr>
        <p:spPr>
          <a:xfrm>
            <a:off x="822960" y="1920240"/>
            <a:ext cx="2286000" cy="365760"/>
          </a:xfrm>
          <a:prstGeom prst="round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新岗位首次跑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1A5060D-BC8B-4141-B5A7-0F6DBA98D223}"/>
              </a:ext>
            </a:extLst>
          </p:cNvPr>
          <p:cNvSpPr>
            <a:spLocks noGrp="1"/>
          </p:cNvSpPr>
          <p:nvPr/>
        </p:nvSpPr>
        <p:spPr>
          <a:xfrm>
            <a:off x="914400" y="2587751"/>
            <a:ext cx="292608" cy="292608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7E9AFF-9FDD-47E9-BCA9-DE950CF92C05}"/>
              </a:ext>
            </a:extLst>
          </p:cNvPr>
          <p:cNvSpPr>
            <a:spLocks noGrp="1"/>
          </p:cNvSpPr>
          <p:nvPr/>
        </p:nvSpPr>
        <p:spPr>
          <a:xfrm>
            <a:off x="1371600" y="25603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先只配置规则，不启用 AI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AA0F262-0AE8-4058-8B98-66823A5F9AAD}"/>
              </a:ext>
            </a:extLst>
          </p:cNvPr>
          <p:cNvSpPr>
            <a:spLocks noGrp="1"/>
          </p:cNvSpPr>
          <p:nvPr/>
        </p:nvSpPr>
        <p:spPr>
          <a:xfrm>
            <a:off x="914400" y="3136391"/>
            <a:ext cx="292608" cy="292608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8BA371-19EA-46BB-A08D-90B195759D25}"/>
              </a:ext>
            </a:extLst>
          </p:cNvPr>
          <p:cNvSpPr>
            <a:spLocks noGrp="1"/>
          </p:cNvSpPr>
          <p:nvPr/>
        </p:nvSpPr>
        <p:spPr>
          <a:xfrm>
            <a:off x="1371600" y="31089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打招呼策略选「不打招呼（仅筛选）」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F169474-B143-4A78-AF9D-628B480FAC84}"/>
              </a:ext>
            </a:extLst>
          </p:cNvPr>
          <p:cNvSpPr>
            <a:spLocks noGrp="1"/>
          </p:cNvSpPr>
          <p:nvPr/>
        </p:nvSpPr>
        <p:spPr>
          <a:xfrm>
            <a:off x="914400" y="3685032"/>
            <a:ext cx="292608" cy="292608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363C20-8273-4AD9-B044-5C1E14652EAF}"/>
              </a:ext>
            </a:extLst>
          </p:cNvPr>
          <p:cNvSpPr>
            <a:spLocks noGrp="1"/>
          </p:cNvSpPr>
          <p:nvPr/>
        </p:nvSpPr>
        <p:spPr>
          <a:xfrm>
            <a:off x="1371600" y="36576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安全扫描开启，滚动轮次 50-200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7CAF527-EB7B-482A-83C9-5314DC41D120}"/>
              </a:ext>
            </a:extLst>
          </p:cNvPr>
          <p:cNvSpPr>
            <a:spLocks noGrp="1"/>
          </p:cNvSpPr>
          <p:nvPr/>
        </p:nvSpPr>
        <p:spPr>
          <a:xfrm>
            <a:off x="914400" y="4233672"/>
            <a:ext cx="292608" cy="292608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CFBBF-193C-4BE0-8749-2B78AB53A042}"/>
              </a:ext>
            </a:extLst>
          </p:cNvPr>
          <p:cNvSpPr>
            <a:spLocks noGrp="1"/>
          </p:cNvSpPr>
          <p:nvPr/>
        </p:nvSpPr>
        <p:spPr>
          <a:xfrm>
            <a:off x="1371600" y="42062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 dirty="0" err="1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看结果里的误杀、误放</a:t>
            </a:r>
            <a:endParaRPr sz="1200" b="0" i="0" dirty="0">
              <a:solidFill>
                <a:srgbClr val="3D4F5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91DEB47-9A97-4E4C-B83C-535FEC371512}"/>
              </a:ext>
            </a:extLst>
          </p:cNvPr>
          <p:cNvSpPr>
            <a:spLocks noGrp="1"/>
          </p:cNvSpPr>
          <p:nvPr/>
        </p:nvSpPr>
        <p:spPr>
          <a:xfrm>
            <a:off x="914400" y="4782312"/>
            <a:ext cx="292608" cy="292608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A525D6-73EB-44A9-9919-3BA89D0555F6}"/>
              </a:ext>
            </a:extLst>
          </p:cNvPr>
          <p:cNvSpPr>
            <a:spLocks noGrp="1"/>
          </p:cNvSpPr>
          <p:nvPr/>
        </p:nvSpPr>
        <p:spPr>
          <a:xfrm>
            <a:off x="1371600" y="47548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调整岗位规则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D5FFBA0-B55D-497E-B339-DE891E090AA3}"/>
              </a:ext>
            </a:extLst>
          </p:cNvPr>
          <p:cNvSpPr>
            <a:spLocks noGrp="1"/>
          </p:cNvSpPr>
          <p:nvPr/>
        </p:nvSpPr>
        <p:spPr>
          <a:xfrm>
            <a:off x="914400" y="5330952"/>
            <a:ext cx="292608" cy="292608"/>
          </a:xfrm>
          <a:prstGeom prst="ellipse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C041A3-EA5D-44D0-8C2A-F09D5620123A}"/>
              </a:ext>
            </a:extLst>
          </p:cNvPr>
          <p:cNvSpPr>
            <a:spLocks noGrp="1"/>
          </p:cNvSpPr>
          <p:nvPr/>
        </p:nvSpPr>
        <p:spPr>
          <a:xfrm>
            <a:off x="1371600" y="5303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确认规则后开启「仅强烈推荐」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934FBBC-F206-4FE4-9208-611421C5021D}"/>
              </a:ext>
            </a:extLst>
          </p:cNvPr>
          <p:cNvSpPr>
            <a:spLocks noGrp="1"/>
          </p:cNvSpPr>
          <p:nvPr/>
        </p:nvSpPr>
        <p:spPr>
          <a:xfrm>
            <a:off x="6309360" y="1645920"/>
            <a:ext cx="530352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873701A-8513-4916-9134-52B2E86425C8}"/>
              </a:ext>
            </a:extLst>
          </p:cNvPr>
          <p:cNvSpPr>
            <a:spLocks noGrp="1"/>
          </p:cNvSpPr>
          <p:nvPr/>
        </p:nvSpPr>
        <p:spPr>
          <a:xfrm>
            <a:off x="6309360" y="1645920"/>
            <a:ext cx="5303520" cy="54864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C75473E-7937-4C29-B7FA-99F75C02A049}"/>
              </a:ext>
            </a:extLst>
          </p:cNvPr>
          <p:cNvSpPr>
            <a:spLocks noGrp="1"/>
          </p:cNvSpPr>
          <p:nvPr/>
        </p:nvSpPr>
        <p:spPr>
          <a:xfrm>
            <a:off x="6583680" y="1920240"/>
            <a:ext cx="2286000" cy="365760"/>
          </a:xfrm>
          <a:prstGeom prst="round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成熟岗位日常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2976E37-27A2-41EA-BC78-C480CD6BE2AE}"/>
              </a:ext>
            </a:extLst>
          </p:cNvPr>
          <p:cNvSpPr>
            <a:spLocks noGrp="1"/>
          </p:cNvSpPr>
          <p:nvPr/>
        </p:nvSpPr>
        <p:spPr>
          <a:xfrm>
            <a:off x="6675120" y="2587751"/>
            <a:ext cx="292608" cy="292608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ED316A6-ADD2-448A-820B-A3BA55912B23}"/>
              </a:ext>
            </a:extLst>
          </p:cNvPr>
          <p:cNvSpPr>
            <a:spLocks noGrp="1"/>
          </p:cNvSpPr>
          <p:nvPr/>
        </p:nvSpPr>
        <p:spPr>
          <a:xfrm>
            <a:off x="7040880" y="254203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✅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F69030-B5A8-49C2-B3A7-AEA996919A82}"/>
              </a:ext>
            </a:extLst>
          </p:cNvPr>
          <p:cNvSpPr>
            <a:spLocks noGrp="1"/>
          </p:cNvSpPr>
          <p:nvPr/>
        </p:nvSpPr>
        <p:spPr>
          <a:xfrm>
            <a:off x="7498079" y="25603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检查浏览器连接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D928B89-A073-4830-A180-BD32F4611D69}"/>
              </a:ext>
            </a:extLst>
          </p:cNvPr>
          <p:cNvSpPr>
            <a:spLocks noGrp="1"/>
          </p:cNvSpPr>
          <p:nvPr/>
        </p:nvSpPr>
        <p:spPr>
          <a:xfrm>
            <a:off x="6675120" y="3136391"/>
            <a:ext cx="292608" cy="292608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75A8DA-9753-4760-B2C4-0CBA0DC09559}"/>
              </a:ext>
            </a:extLst>
          </p:cNvPr>
          <p:cNvSpPr>
            <a:spLocks noGrp="1"/>
          </p:cNvSpPr>
          <p:nvPr/>
        </p:nvSpPr>
        <p:spPr>
          <a:xfrm>
            <a:off x="7040880" y="309067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🎯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9A1F2A9-F3B5-4ACC-BCCF-A3D7DBA4450F}"/>
              </a:ext>
            </a:extLst>
          </p:cNvPr>
          <p:cNvSpPr>
            <a:spLocks noGrp="1"/>
          </p:cNvSpPr>
          <p:nvPr/>
        </p:nvSpPr>
        <p:spPr>
          <a:xfrm>
            <a:off x="7498079" y="3108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确认仍在推荐牛人页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36C5291-78CE-4462-B491-FE9ED03FB9B6}"/>
              </a:ext>
            </a:extLst>
          </p:cNvPr>
          <p:cNvSpPr>
            <a:spLocks noGrp="1"/>
          </p:cNvSpPr>
          <p:nvPr/>
        </p:nvSpPr>
        <p:spPr>
          <a:xfrm>
            <a:off x="6675120" y="3685032"/>
            <a:ext cx="292608" cy="292608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A338688-86AB-40F1-BEA4-722347EC35DC}"/>
              </a:ext>
            </a:extLst>
          </p:cNvPr>
          <p:cNvSpPr>
            <a:spLocks noGrp="1"/>
          </p:cNvSpPr>
          <p:nvPr/>
        </p:nvSpPr>
        <p:spPr>
          <a:xfrm>
            <a:off x="7040880" y="363931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9D4A1D8-208E-4BC0-B999-8556418F8AF0}"/>
              </a:ext>
            </a:extLst>
          </p:cNvPr>
          <p:cNvSpPr>
            <a:spLocks noGrp="1"/>
          </p:cNvSpPr>
          <p:nvPr/>
        </p:nvSpPr>
        <p:spPr>
          <a:xfrm>
            <a:off x="7498079" y="3657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运行筛选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55A1498-9FE1-4D37-AD72-280BEB9B16A7}"/>
              </a:ext>
            </a:extLst>
          </p:cNvPr>
          <p:cNvSpPr>
            <a:spLocks noGrp="1"/>
          </p:cNvSpPr>
          <p:nvPr/>
        </p:nvSpPr>
        <p:spPr>
          <a:xfrm>
            <a:off x="6675120" y="4233672"/>
            <a:ext cx="292608" cy="292608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BDB4F2F-C701-4710-97F0-A4CD8EF7DF65}"/>
              </a:ext>
            </a:extLst>
          </p:cNvPr>
          <p:cNvSpPr>
            <a:spLocks noGrp="1"/>
          </p:cNvSpPr>
          <p:nvPr/>
        </p:nvSpPr>
        <p:spPr>
          <a:xfrm>
            <a:off x="7040880" y="418795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📋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B41B886-523B-4FCA-9214-0033F8BAD969}"/>
              </a:ext>
            </a:extLst>
          </p:cNvPr>
          <p:cNvSpPr>
            <a:spLocks noGrp="1"/>
          </p:cNvSpPr>
          <p:nvPr/>
        </p:nvSpPr>
        <p:spPr>
          <a:xfrm>
            <a:off x="7498079" y="4206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查看筛选结果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D96AB82A-C554-4CD3-8D91-B5507DE16E11}"/>
              </a:ext>
            </a:extLst>
          </p:cNvPr>
          <p:cNvSpPr>
            <a:spLocks noGrp="1"/>
          </p:cNvSpPr>
          <p:nvPr/>
        </p:nvSpPr>
        <p:spPr>
          <a:xfrm>
            <a:off x="6675120" y="4782312"/>
            <a:ext cx="292608" cy="292608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2B428ED-8EA2-4760-B7B7-3004BD777402}"/>
              </a:ext>
            </a:extLst>
          </p:cNvPr>
          <p:cNvSpPr>
            <a:spLocks noGrp="1"/>
          </p:cNvSpPr>
          <p:nvPr/>
        </p:nvSpPr>
        <p:spPr>
          <a:xfrm>
            <a:off x="7040880" y="473659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📊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61704D0-5B0C-4625-BAAD-6F05388F96F6}"/>
              </a:ext>
            </a:extLst>
          </p:cNvPr>
          <p:cNvSpPr>
            <a:spLocks noGrp="1"/>
          </p:cNvSpPr>
          <p:nvPr/>
        </p:nvSpPr>
        <p:spPr>
          <a:xfrm>
            <a:off x="7498079" y="475487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导出 Excel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7C2ACA8C-9F50-4035-B74A-BBDFCE0C128E}"/>
              </a:ext>
            </a:extLst>
          </p:cNvPr>
          <p:cNvSpPr>
            <a:spLocks noGrp="1"/>
          </p:cNvSpPr>
          <p:nvPr/>
        </p:nvSpPr>
        <p:spPr>
          <a:xfrm>
            <a:off x="6675120" y="5330952"/>
            <a:ext cx="292608" cy="292608"/>
          </a:xfrm>
          <a:prstGeom prst="ellipse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42CAEA3-8DFA-4BEF-A892-74903C41EEE3}"/>
              </a:ext>
            </a:extLst>
          </p:cNvPr>
          <p:cNvSpPr>
            <a:spLocks noGrp="1"/>
          </p:cNvSpPr>
          <p:nvPr/>
        </p:nvSpPr>
        <p:spPr>
          <a:xfrm>
            <a:off x="7040880" y="528523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🔍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E8C6AB6-F335-4FDA-8E94-517BF4E4AFFF}"/>
              </a:ext>
            </a:extLst>
          </p:cNvPr>
          <p:cNvSpPr>
            <a:spLocks noGrp="1"/>
          </p:cNvSpPr>
          <p:nvPr/>
        </p:nvSpPr>
        <p:spPr>
          <a:xfrm>
            <a:off x="7498079" y="5303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3D4F5F"/>
                </a:solidFill>
                <a:latin typeface="Microsoft YaHei"/>
                <a:ea typeface="Microsoft YaHei"/>
                <a:cs typeface="Microsoft YaHei"/>
              </a:rPr>
              <a:t>查看统计，判断是否微调规则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CC6FEBE-D208-44BC-B427-3B5C90EFCC63}"/>
              </a:ext>
            </a:extLst>
          </p:cNvPr>
          <p:cNvSpPr>
            <a:spLocks noGrp="1"/>
          </p:cNvSpPr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13 / 15</a:t>
            </a:r>
          </a:p>
        </p:txBody>
      </p:sp>
    </p:spTree>
    <p:extLst>
      <p:ext uri="{BB962C8B-B14F-4D97-AF65-F5344CB8AC3E}">
        <p14:creationId xmlns:p14="http://schemas.microsoft.com/office/powerpoint/2010/main" val="6294229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22AD83-44A7-43FB-ACD3-CB35C3E3E6BA}"/>
              </a:ext>
            </a:extLst>
          </p:cNvPr>
          <p:cNvSpPr>
            <a:spLocks noGrp="1"/>
          </p:cNvSpPr>
          <p:nvPr/>
        </p:nvSpPr>
        <p:spPr>
          <a:xfrm>
            <a:off x="731520" y="548640"/>
            <a:ext cx="73152" cy="45720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F332DB-F635-437C-91EF-CECE02BF596C}"/>
              </a:ext>
            </a:extLst>
          </p:cNvPr>
          <p:cNvSpPr>
            <a:spLocks noGrp="1"/>
          </p:cNvSpPr>
          <p:nvPr/>
        </p:nvSpPr>
        <p:spPr>
          <a:xfrm>
            <a:off x="1005840" y="502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32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常见问题速查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9241B17-0A80-4D29-BAD2-4B4985148BBE}"/>
              </a:ext>
            </a:extLst>
          </p:cNvPr>
          <p:cNvSpPr>
            <a:spLocks noGrp="1"/>
          </p:cNvSpPr>
          <p:nvPr/>
        </p:nvSpPr>
        <p:spPr>
          <a:xfrm>
            <a:off x="731520" y="1371600"/>
            <a:ext cx="1069848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749980-59E1-4E21-9676-D3911AF02B45}"/>
              </a:ext>
            </a:extLst>
          </p:cNvPr>
          <p:cNvSpPr>
            <a:spLocks noGrp="1"/>
          </p:cNvSpPr>
          <p:nvPr/>
        </p:nvSpPr>
        <p:spPr>
          <a:xfrm>
            <a:off x="731520" y="1371600"/>
            <a:ext cx="54864" cy="7315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94FC57F-A5A6-4F85-A1D3-681E74258467}"/>
              </a:ext>
            </a:extLst>
          </p:cNvPr>
          <p:cNvSpPr>
            <a:spLocks noGrp="1"/>
          </p:cNvSpPr>
          <p:nvPr/>
        </p:nvSpPr>
        <p:spPr>
          <a:xfrm>
            <a:off x="1005840" y="1508760"/>
            <a:ext cx="45720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18798C-FDDC-48E8-9105-10D651308CD6}"/>
              </a:ext>
            </a:extLst>
          </p:cNvPr>
          <p:cNvSpPr>
            <a:spLocks noGrp="1"/>
          </p:cNvSpPr>
          <p:nvPr/>
        </p:nvSpPr>
        <p:spPr>
          <a:xfrm>
            <a:off x="1645920" y="14173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提示「未连接」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54D4E-2E31-48E6-8985-727C74D5B4BF}"/>
              </a:ext>
            </a:extLst>
          </p:cNvPr>
          <p:cNvSpPr>
            <a:spLocks noGrp="1"/>
          </p:cNvSpPr>
          <p:nvPr/>
        </p:nvSpPr>
        <p:spPr>
          <a:xfrm>
            <a:off x="1645920" y="1737360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回到运行控制 → 点击检测/连接浏览器 → 确认 Chrome 已启动且打开推荐页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D9CB757-24F1-4E95-94E4-4F9BF5B8DE3D}"/>
              </a:ext>
            </a:extLst>
          </p:cNvPr>
          <p:cNvSpPr>
            <a:spLocks noGrp="1"/>
          </p:cNvSpPr>
          <p:nvPr/>
        </p:nvSpPr>
        <p:spPr>
          <a:xfrm>
            <a:off x="731520" y="2240280"/>
            <a:ext cx="1069848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7EFBDD-F9C7-4CC5-B5AA-764A4B8EB9A0}"/>
              </a:ext>
            </a:extLst>
          </p:cNvPr>
          <p:cNvSpPr>
            <a:spLocks noGrp="1"/>
          </p:cNvSpPr>
          <p:nvPr/>
        </p:nvSpPr>
        <p:spPr>
          <a:xfrm>
            <a:off x="731520" y="2240280"/>
            <a:ext cx="54864" cy="7315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5924C79-2C66-4257-B96C-1D65A192695E}"/>
              </a:ext>
            </a:extLst>
          </p:cNvPr>
          <p:cNvSpPr>
            <a:spLocks noGrp="1"/>
          </p:cNvSpPr>
          <p:nvPr/>
        </p:nvSpPr>
        <p:spPr>
          <a:xfrm>
            <a:off x="1005840" y="2377440"/>
            <a:ext cx="45720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43D930-6C13-4EE4-B1A8-5C651A6C3156}"/>
              </a:ext>
            </a:extLst>
          </p:cNvPr>
          <p:cNvSpPr>
            <a:spLocks noGrp="1"/>
          </p:cNvSpPr>
          <p:nvPr/>
        </p:nvSpPr>
        <p:spPr>
          <a:xfrm>
            <a:off x="1645920" y="2286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提示「需导航」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60C10B-4802-4D56-900E-5D5AC63260E8}"/>
              </a:ext>
            </a:extLst>
          </p:cNvPr>
          <p:cNvSpPr>
            <a:spLocks noGrp="1"/>
          </p:cNvSpPr>
          <p:nvPr/>
        </p:nvSpPr>
        <p:spPr>
          <a:xfrm>
            <a:off x="1645920" y="2606040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Chrome 已连接但不在推荐页 → 手工打开目标岗位的推荐牛人页面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110B694-9FFB-4E51-8249-5C84D6D35C20}"/>
              </a:ext>
            </a:extLst>
          </p:cNvPr>
          <p:cNvSpPr>
            <a:spLocks noGrp="1"/>
          </p:cNvSpPr>
          <p:nvPr/>
        </p:nvSpPr>
        <p:spPr>
          <a:xfrm>
            <a:off x="731520" y="3108960"/>
            <a:ext cx="1069848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0429E9-F223-45EF-BFA1-F77506251B06}"/>
              </a:ext>
            </a:extLst>
          </p:cNvPr>
          <p:cNvSpPr>
            <a:spLocks noGrp="1"/>
          </p:cNvSpPr>
          <p:nvPr/>
        </p:nvSpPr>
        <p:spPr>
          <a:xfrm>
            <a:off x="731520" y="3108960"/>
            <a:ext cx="54864" cy="7315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6033420-3A1D-498F-9B6B-2251548ED987}"/>
              </a:ext>
            </a:extLst>
          </p:cNvPr>
          <p:cNvSpPr>
            <a:spLocks noGrp="1"/>
          </p:cNvSpPr>
          <p:nvPr/>
        </p:nvSpPr>
        <p:spPr>
          <a:xfrm>
            <a:off x="1005840" y="3246120"/>
            <a:ext cx="45720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175E5D-DE7C-422F-98E5-FA71A6802F67}"/>
              </a:ext>
            </a:extLst>
          </p:cNvPr>
          <p:cNvSpPr>
            <a:spLocks noGrp="1"/>
          </p:cNvSpPr>
          <p:nvPr/>
        </p:nvSpPr>
        <p:spPr>
          <a:xfrm>
            <a:off x="1645920" y="315467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BOSS 弹出验证码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F05454-3B64-403F-B5C9-04C8EA9015BF}"/>
              </a:ext>
            </a:extLst>
          </p:cNvPr>
          <p:cNvSpPr>
            <a:spLocks noGrp="1"/>
          </p:cNvSpPr>
          <p:nvPr/>
        </p:nvSpPr>
        <p:spPr>
          <a:xfrm>
            <a:off x="1645920" y="3474720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系统暂停等待 → 在浏览器完成验证 → 停止本轮，稍后重新运行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82A2362-4126-480E-A54B-9BCC12B84B78}"/>
              </a:ext>
            </a:extLst>
          </p:cNvPr>
          <p:cNvSpPr>
            <a:spLocks noGrp="1"/>
          </p:cNvSpPr>
          <p:nvPr/>
        </p:nvSpPr>
        <p:spPr>
          <a:xfrm>
            <a:off x="731520" y="3977639"/>
            <a:ext cx="1069848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1D2DF95-5DD7-41B0-AB9D-D67FD30E81E2}"/>
              </a:ext>
            </a:extLst>
          </p:cNvPr>
          <p:cNvSpPr>
            <a:spLocks noGrp="1"/>
          </p:cNvSpPr>
          <p:nvPr/>
        </p:nvSpPr>
        <p:spPr>
          <a:xfrm>
            <a:off x="731520" y="3977639"/>
            <a:ext cx="54864" cy="73152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DDE8030-3EC6-4991-999A-536B5B41EF99}"/>
              </a:ext>
            </a:extLst>
          </p:cNvPr>
          <p:cNvSpPr>
            <a:spLocks noGrp="1"/>
          </p:cNvSpPr>
          <p:nvPr/>
        </p:nvSpPr>
        <p:spPr>
          <a:xfrm>
            <a:off x="1005840" y="4114800"/>
            <a:ext cx="457200" cy="457200"/>
          </a:xfrm>
          <a:prstGeom prst="round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1C9BFB-B258-4B18-A5B3-C9629A63C5A9}"/>
              </a:ext>
            </a:extLst>
          </p:cNvPr>
          <p:cNvSpPr>
            <a:spLocks noGrp="1"/>
          </p:cNvSpPr>
          <p:nvPr/>
        </p:nvSpPr>
        <p:spPr>
          <a:xfrm>
            <a:off x="1645920" y="402335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AI 评估失败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034A0E-9809-40AE-87EC-1352E8151927}"/>
              </a:ext>
            </a:extLst>
          </p:cNvPr>
          <p:cNvSpPr>
            <a:spLocks noGrp="1"/>
          </p:cNvSpPr>
          <p:nvPr/>
        </p:nvSpPr>
        <p:spPr>
          <a:xfrm>
            <a:off x="1645920" y="4343400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检查 API Key → Base URL → 模型名称 → 是否已开通 → 额度是否耗尽（不要先改规则）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CBEA23A7-F9F0-4603-BD83-C17209DF4F0E}"/>
              </a:ext>
            </a:extLst>
          </p:cNvPr>
          <p:cNvSpPr>
            <a:spLocks noGrp="1"/>
          </p:cNvSpPr>
          <p:nvPr/>
        </p:nvSpPr>
        <p:spPr>
          <a:xfrm>
            <a:off x="731520" y="4846320"/>
            <a:ext cx="1069848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70EF9DE-CBEF-4D34-863F-D25DF85BE2B8}"/>
              </a:ext>
            </a:extLst>
          </p:cNvPr>
          <p:cNvSpPr>
            <a:spLocks noGrp="1"/>
          </p:cNvSpPr>
          <p:nvPr/>
        </p:nvSpPr>
        <p:spPr>
          <a:xfrm>
            <a:off x="731520" y="4846320"/>
            <a:ext cx="54864" cy="731520"/>
          </a:xfrm>
          <a:prstGeom prst="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EF3A1B36-7200-4D49-97BA-6D3A0E14A119}"/>
              </a:ext>
            </a:extLst>
          </p:cNvPr>
          <p:cNvSpPr>
            <a:spLocks noGrp="1"/>
          </p:cNvSpPr>
          <p:nvPr/>
        </p:nvSpPr>
        <p:spPr>
          <a:xfrm>
            <a:off x="1005840" y="4983480"/>
            <a:ext cx="457200" cy="457200"/>
          </a:xfrm>
          <a:prstGeom prst="roundRect">
            <a:avLst/>
          </a:prstGeom>
          <a:solidFill>
            <a:srgbClr val="E86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D7B6600-F1AA-4EC8-BF0C-280DB357143B}"/>
              </a:ext>
            </a:extLst>
          </p:cNvPr>
          <p:cNvSpPr>
            <a:spLocks noGrp="1"/>
          </p:cNvSpPr>
          <p:nvPr/>
        </p:nvSpPr>
        <p:spPr>
          <a:xfrm>
            <a:off x="1645920" y="4892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提示页面跑偏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606B41B-DF7E-4BF8-81EB-74D290C541EA}"/>
              </a:ext>
            </a:extLst>
          </p:cNvPr>
          <p:cNvSpPr>
            <a:spLocks noGrp="1"/>
          </p:cNvSpPr>
          <p:nvPr/>
        </p:nvSpPr>
        <p:spPr>
          <a:xfrm>
            <a:off x="1645920" y="5212080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浏览器不在推荐牛人页或职位不一致 → 切回目标岗位推荐页后重跑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8B8AFEDB-A690-4A29-8FEA-2F21F8810016}"/>
              </a:ext>
            </a:extLst>
          </p:cNvPr>
          <p:cNvSpPr>
            <a:spLocks noGrp="1"/>
          </p:cNvSpPr>
          <p:nvPr/>
        </p:nvSpPr>
        <p:spPr>
          <a:xfrm>
            <a:off x="731520" y="5715000"/>
            <a:ext cx="1069848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13C78C5-B9B6-412A-888F-F43C51777C29}"/>
              </a:ext>
            </a:extLst>
          </p:cNvPr>
          <p:cNvSpPr>
            <a:spLocks noGrp="1"/>
          </p:cNvSpPr>
          <p:nvPr/>
        </p:nvSpPr>
        <p:spPr>
          <a:xfrm>
            <a:off x="731520" y="5715000"/>
            <a:ext cx="54864" cy="731520"/>
          </a:xfrm>
          <a:prstGeom prst="rect">
            <a:avLst/>
          </a:prstGeom>
          <a:solidFill>
            <a:srgbClr val="6B7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F7746051-D858-409E-B8A2-C9E8E76BEB38}"/>
              </a:ext>
            </a:extLst>
          </p:cNvPr>
          <p:cNvSpPr>
            <a:spLocks noGrp="1"/>
          </p:cNvSpPr>
          <p:nvPr/>
        </p:nvSpPr>
        <p:spPr>
          <a:xfrm>
            <a:off x="1005840" y="5852160"/>
            <a:ext cx="457200" cy="457200"/>
          </a:xfrm>
          <a:prstGeom prst="roundRect">
            <a:avLst/>
          </a:prstGeom>
          <a:solidFill>
            <a:srgbClr val="6B7B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DC9FCE4-BEE9-46CD-A21C-D36D82F24D04}"/>
              </a:ext>
            </a:extLst>
          </p:cNvPr>
          <p:cNvSpPr>
            <a:spLocks noGrp="1"/>
          </p:cNvSpPr>
          <p:nvPr/>
        </p:nvSpPr>
        <p:spPr>
          <a:xfrm>
            <a:off x="1645920" y="5760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1B2838"/>
                </a:solidFill>
                <a:latin typeface="Microsoft YaHei"/>
                <a:ea typeface="Microsoft YaHei"/>
                <a:cs typeface="Microsoft YaHei"/>
              </a:rPr>
              <a:t>候选人很少/质量差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0E8895-516E-4B36-89D9-05C88C07C6E0}"/>
              </a:ext>
            </a:extLst>
          </p:cNvPr>
          <p:cNvSpPr>
            <a:spLocks noGrp="1"/>
          </p:cNvSpPr>
          <p:nvPr/>
        </p:nvSpPr>
        <p:spPr>
          <a:xfrm>
            <a:off x="1645920" y="6080760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先开安全扫描；再查职位、地点、必要条件、关键词、滚动轮次和推荐池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1D016CF-DEE3-4009-900E-31B41D4B5FD9}"/>
              </a:ext>
            </a:extLst>
          </p:cNvPr>
          <p:cNvSpPr>
            <a:spLocks noGrp="1"/>
          </p:cNvSpPr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14 / 15</a:t>
            </a:r>
          </a:p>
        </p:txBody>
      </p:sp>
    </p:spTree>
    <p:extLst>
      <p:ext uri="{BB962C8B-B14F-4D97-AF65-F5344CB8AC3E}">
        <p14:creationId xmlns:p14="http://schemas.microsoft.com/office/powerpoint/2010/main" val="2940848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4F06FCE-882F-4F60-BA4F-06F26F3C59B6}"/>
              </a:ext>
            </a:extLst>
          </p:cNvPr>
          <p:cNvSpPr>
            <a:spLocks noGrp="1"/>
          </p:cNvSpPr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7318A5-B517-47BF-A5F3-114212CB985E}"/>
              </a:ext>
            </a:extLst>
          </p:cNvPr>
          <p:cNvSpPr>
            <a:spLocks noGrp="1"/>
          </p:cNvSpPr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3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快速检查清单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E5A8C6-E846-4CEA-A034-2F331AB2F40F}"/>
              </a:ext>
            </a:extLst>
          </p:cNvPr>
          <p:cNvSpPr>
            <a:spLocks noGrp="1"/>
          </p:cNvSpPr>
          <p:nvPr/>
        </p:nvSpPr>
        <p:spPr>
          <a:xfrm>
            <a:off x="73152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E8652C"/>
                </a:solidFill>
                <a:latin typeface="Microsoft YaHei"/>
                <a:ea typeface="Microsoft YaHei"/>
                <a:cs typeface="Microsoft YaHei"/>
              </a:rPr>
              <a:t>运行前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1F60BC-A22F-4CC4-A03A-7C395A2CFE42}"/>
              </a:ext>
            </a:extLst>
          </p:cNvPr>
          <p:cNvSpPr>
            <a:spLocks noGrp="1"/>
          </p:cNvSpPr>
          <p:nvPr/>
        </p:nvSpPr>
        <p:spPr>
          <a:xfrm>
            <a:off x="914400" y="1920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☑  岗位规则已保存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F9EB59-A7A8-4889-9F37-DA706D276F51}"/>
              </a:ext>
            </a:extLst>
          </p:cNvPr>
          <p:cNvSpPr>
            <a:spLocks noGrp="1"/>
          </p:cNvSpPr>
          <p:nvPr/>
        </p:nvSpPr>
        <p:spPr>
          <a:xfrm>
            <a:off x="914400" y="2331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☑  BOSS 网页端已登录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A98095-F91F-4DEF-8C32-B1C10F874DAC}"/>
              </a:ext>
            </a:extLst>
          </p:cNvPr>
          <p:cNvSpPr>
            <a:spLocks noGrp="1"/>
          </p:cNvSpPr>
          <p:nvPr/>
        </p:nvSpPr>
        <p:spPr>
          <a:xfrm>
            <a:off x="914400" y="2743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☑  Chrome 已连接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3B1B89-3F97-4EC9-940E-BB042FE40BA0}"/>
              </a:ext>
            </a:extLst>
          </p:cNvPr>
          <p:cNvSpPr>
            <a:spLocks noGrp="1"/>
          </p:cNvSpPr>
          <p:nvPr/>
        </p:nvSpPr>
        <p:spPr>
          <a:xfrm>
            <a:off x="914400" y="3154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☑  当前页面是目标岗位推荐牛人页面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9CE8E7-54AF-4C0A-99EC-8B5F311339A2}"/>
              </a:ext>
            </a:extLst>
          </p:cNvPr>
          <p:cNvSpPr>
            <a:spLocks noGrp="1"/>
          </p:cNvSpPr>
          <p:nvPr/>
        </p:nvSpPr>
        <p:spPr>
          <a:xfrm>
            <a:off x="914400" y="3566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☑  系统选择岗位与 BOSS 页面一致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86F90-4954-456C-BD7B-93CEFBAA813F}"/>
              </a:ext>
            </a:extLst>
          </p:cNvPr>
          <p:cNvSpPr>
            <a:spLocks noGrp="1"/>
          </p:cNvSpPr>
          <p:nvPr/>
        </p:nvSpPr>
        <p:spPr>
          <a:xfrm>
            <a:off x="914400" y="397763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☑  安全扫描默认开启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71F6F9-2664-4A8F-B66D-517340047DB5}"/>
              </a:ext>
            </a:extLst>
          </p:cNvPr>
          <p:cNvSpPr>
            <a:spLocks noGrp="1"/>
          </p:cNvSpPr>
          <p:nvPr/>
        </p:nvSpPr>
        <p:spPr>
          <a:xfrm>
            <a:off x="914400" y="4389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☑  启用 AI 时模型已测试通过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7B020B-3592-43A5-897A-8B4B7D025E61}"/>
              </a:ext>
            </a:extLst>
          </p:cNvPr>
          <p:cNvSpPr>
            <a:spLocks noGrp="1"/>
          </p:cNvSpPr>
          <p:nvPr/>
        </p:nvSpPr>
        <p:spPr>
          <a:xfrm>
            <a:off x="640080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E8652C"/>
                </a:solidFill>
                <a:latin typeface="Microsoft YaHei"/>
                <a:ea typeface="Microsoft YaHei"/>
                <a:cs typeface="Microsoft YaHei"/>
              </a:rPr>
              <a:t>运行后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F3C00B-1A06-474E-AB38-7795A27D4B83}"/>
              </a:ext>
            </a:extLst>
          </p:cNvPr>
          <p:cNvSpPr>
            <a:spLocks noGrp="1"/>
          </p:cNvSpPr>
          <p:nvPr/>
        </p:nvSpPr>
        <p:spPr>
          <a:xfrm>
            <a:off x="6583680" y="1920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☑  筛选结果页已刷新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DB2C4F-F0DB-4B13-BD29-6AB775C98B96}"/>
              </a:ext>
            </a:extLst>
          </p:cNvPr>
          <p:cNvSpPr>
            <a:spLocks noGrp="1"/>
          </p:cNvSpPr>
          <p:nvPr/>
        </p:nvSpPr>
        <p:spPr>
          <a:xfrm>
            <a:off x="6583680" y="2331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☑  Excel 已导出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20CD76D-EA95-4B97-AE28-1625F01A63B1}"/>
              </a:ext>
            </a:extLst>
          </p:cNvPr>
          <p:cNvSpPr>
            <a:spLocks noGrp="1"/>
          </p:cNvSpPr>
          <p:nvPr/>
        </p:nvSpPr>
        <p:spPr>
          <a:xfrm>
            <a:off x="6583680" y="2743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☑  数据统计已查看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947D8B-92BC-421B-9B37-179685D5F62A}"/>
              </a:ext>
            </a:extLst>
          </p:cNvPr>
          <p:cNvSpPr>
            <a:spLocks noGrp="1"/>
          </p:cNvSpPr>
          <p:nvPr/>
        </p:nvSpPr>
        <p:spPr>
          <a:xfrm>
            <a:off x="6583680" y="3154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☑  黑名单/简历评估已核对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AD0D7C-1794-484F-B483-92E3423E9731}"/>
              </a:ext>
            </a:extLst>
          </p:cNvPr>
          <p:cNvSpPr>
            <a:spLocks noGrp="1"/>
          </p:cNvSpPr>
          <p:nvPr/>
        </p:nvSpPr>
        <p:spPr>
          <a:xfrm>
            <a:off x="6583680" y="3566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☑  必要时备份 JSON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816785-F81D-4D81-8D6F-95E393B3D602}"/>
              </a:ext>
            </a:extLst>
          </p:cNvPr>
          <p:cNvSpPr>
            <a:spLocks noGrp="1"/>
          </p:cNvSpPr>
          <p:nvPr/>
        </p:nvSpPr>
        <p:spPr>
          <a:xfrm>
            <a:off x="731520" y="5212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600" b="1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关键数据文件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DA98CE61-D051-4FE9-B687-F51639AC61CD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2103120" cy="548640"/>
          </a:xfrm>
          <a:prstGeom prst="roundRect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DA5AFE-8CA4-4393-8FE0-F5A72D49EE26}"/>
              </a:ext>
            </a:extLst>
          </p:cNvPr>
          <p:cNvSpPr>
            <a:spLocks noGrp="1"/>
          </p:cNvSpPr>
          <p:nvPr/>
        </p:nvSpPr>
        <p:spPr>
          <a:xfrm>
            <a:off x="822960" y="56692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1" i="0">
                <a:solidFill>
                  <a:srgbClr val="E8652C"/>
                </a:solidFill>
                <a:latin typeface="Microsoft YaHei"/>
                <a:ea typeface="Microsoft YaHei"/>
                <a:cs typeface="Microsoft YaHei"/>
              </a:rPr>
              <a:t>job_config.json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DFD434-DE7F-472F-8070-D2EC9EB3F96A}"/>
              </a:ext>
            </a:extLst>
          </p:cNvPr>
          <p:cNvSpPr>
            <a:spLocks noGrp="1"/>
          </p:cNvSpPr>
          <p:nvPr/>
        </p:nvSpPr>
        <p:spPr>
          <a:xfrm>
            <a:off x="822960" y="59436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9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岗位规则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1AF640DA-8907-4BE2-A7FD-C434C91EE60C}"/>
              </a:ext>
            </a:extLst>
          </p:cNvPr>
          <p:cNvSpPr>
            <a:spLocks noGrp="1"/>
          </p:cNvSpPr>
          <p:nvPr/>
        </p:nvSpPr>
        <p:spPr>
          <a:xfrm>
            <a:off x="3017520" y="5669280"/>
            <a:ext cx="2103120" cy="548640"/>
          </a:xfrm>
          <a:prstGeom prst="roundRect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05981E-890C-47E8-87F5-6EA07D2C4C92}"/>
              </a:ext>
            </a:extLst>
          </p:cNvPr>
          <p:cNvSpPr>
            <a:spLocks noGrp="1"/>
          </p:cNvSpPr>
          <p:nvPr/>
        </p:nvSpPr>
        <p:spPr>
          <a:xfrm>
            <a:off x="3108960" y="56692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1" i="0">
                <a:solidFill>
                  <a:srgbClr val="E8652C"/>
                </a:solidFill>
                <a:latin typeface="Microsoft YaHei"/>
                <a:ea typeface="Microsoft YaHei"/>
                <a:cs typeface="Microsoft YaHei"/>
              </a:rPr>
              <a:t>api_config.json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7E2FB5-D1E9-46EC-A38A-4D517451D9B4}"/>
              </a:ext>
            </a:extLst>
          </p:cNvPr>
          <p:cNvSpPr>
            <a:spLocks noGrp="1"/>
          </p:cNvSpPr>
          <p:nvPr/>
        </p:nvSpPr>
        <p:spPr>
          <a:xfrm>
            <a:off x="3108960" y="59436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9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模型配置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ED32F0B-58E3-4858-836B-2573EE274D05}"/>
              </a:ext>
            </a:extLst>
          </p:cNvPr>
          <p:cNvSpPr>
            <a:spLocks noGrp="1"/>
          </p:cNvSpPr>
          <p:nvPr/>
        </p:nvSpPr>
        <p:spPr>
          <a:xfrm>
            <a:off x="5303520" y="5669280"/>
            <a:ext cx="2103120" cy="548640"/>
          </a:xfrm>
          <a:prstGeom prst="roundRect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9AD0EA-2EF1-4FE5-BFA4-C5F8DDE336B4}"/>
              </a:ext>
            </a:extLst>
          </p:cNvPr>
          <p:cNvSpPr>
            <a:spLocks noGrp="1"/>
          </p:cNvSpPr>
          <p:nvPr/>
        </p:nvSpPr>
        <p:spPr>
          <a:xfrm>
            <a:off x="5394959" y="56692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1" i="0">
                <a:solidFill>
                  <a:srgbClr val="E8652C"/>
                </a:solidFill>
                <a:latin typeface="Microsoft YaHei"/>
                <a:ea typeface="Microsoft YaHei"/>
                <a:cs typeface="Microsoft YaHei"/>
              </a:rPr>
              <a:t>candidates_all.json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5E4A675-01EA-48D7-A5BF-1AF1A6B8636D}"/>
              </a:ext>
            </a:extLst>
          </p:cNvPr>
          <p:cNvSpPr>
            <a:spLocks noGrp="1"/>
          </p:cNvSpPr>
          <p:nvPr/>
        </p:nvSpPr>
        <p:spPr>
          <a:xfrm>
            <a:off x="5394959" y="59436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9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候选人数据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3E4C466D-E3BC-41C4-BC76-F6089EE93ED4}"/>
              </a:ext>
            </a:extLst>
          </p:cNvPr>
          <p:cNvSpPr>
            <a:spLocks noGrp="1"/>
          </p:cNvSpPr>
          <p:nvPr/>
        </p:nvSpPr>
        <p:spPr>
          <a:xfrm>
            <a:off x="7589520" y="5669280"/>
            <a:ext cx="2103120" cy="548640"/>
          </a:xfrm>
          <a:prstGeom prst="roundRect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F3E308-85AE-4599-8215-9B5F0FE7904B}"/>
              </a:ext>
            </a:extLst>
          </p:cNvPr>
          <p:cNvSpPr>
            <a:spLocks noGrp="1"/>
          </p:cNvSpPr>
          <p:nvPr/>
        </p:nvSpPr>
        <p:spPr>
          <a:xfrm>
            <a:off x="7680960" y="56692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1" i="0">
                <a:solidFill>
                  <a:srgbClr val="E8652C"/>
                </a:solidFill>
                <a:latin typeface="Microsoft YaHei"/>
                <a:ea typeface="Microsoft YaHei"/>
                <a:cs typeface="Microsoft YaHei"/>
              </a:rPr>
              <a:t>candidates_all.xlsx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AE25874-0799-4076-80E5-C027A5479CE9}"/>
              </a:ext>
            </a:extLst>
          </p:cNvPr>
          <p:cNvSpPr>
            <a:spLocks noGrp="1"/>
          </p:cNvSpPr>
          <p:nvPr/>
        </p:nvSpPr>
        <p:spPr>
          <a:xfrm>
            <a:off x="7680960" y="59436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9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Excel 导出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1AA5806E-6DA4-4A2E-BE9C-B173398BAA70}"/>
              </a:ext>
            </a:extLst>
          </p:cNvPr>
          <p:cNvSpPr>
            <a:spLocks noGrp="1"/>
          </p:cNvSpPr>
          <p:nvPr/>
        </p:nvSpPr>
        <p:spPr>
          <a:xfrm>
            <a:off x="9875520" y="5669280"/>
            <a:ext cx="2103120" cy="548640"/>
          </a:xfrm>
          <a:prstGeom prst="roundRect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369E98-A853-4D65-BCE5-0E4195A9F3D6}"/>
              </a:ext>
            </a:extLst>
          </p:cNvPr>
          <p:cNvSpPr>
            <a:spLocks noGrp="1"/>
          </p:cNvSpPr>
          <p:nvPr/>
        </p:nvSpPr>
        <p:spPr>
          <a:xfrm>
            <a:off x="9966960" y="56692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1" i="0">
                <a:solidFill>
                  <a:srgbClr val="E8652C"/>
                </a:solidFill>
                <a:latin typeface="Microsoft YaHei"/>
                <a:ea typeface="Microsoft YaHei"/>
                <a:cs typeface="Microsoft YaHei"/>
              </a:rPr>
              <a:t>selectors.json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B14220-831D-4A1E-8474-968395292CFC}"/>
              </a:ext>
            </a:extLst>
          </p:cNvPr>
          <p:cNvSpPr>
            <a:spLocks noGrp="1"/>
          </p:cNvSpPr>
          <p:nvPr/>
        </p:nvSpPr>
        <p:spPr>
          <a:xfrm>
            <a:off x="9966960" y="59436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9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页面选择器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CC2DAA2-9D76-4036-A560-526B55259D9B}"/>
              </a:ext>
            </a:extLst>
          </p:cNvPr>
          <p:cNvSpPr>
            <a:spLocks noGrp="1"/>
          </p:cNvSpPr>
          <p:nvPr/>
        </p:nvSpPr>
        <p:spPr>
          <a:xfrm>
            <a:off x="731520" y="640080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1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BOSS 招聘系统 v2.11.3 · 操作指南 · 2026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252F882-2ABE-48FE-9D3E-A7DFC4337348}"/>
              </a:ext>
            </a:extLst>
          </p:cNvPr>
          <p:cNvSpPr>
            <a:spLocks noGrp="1"/>
          </p:cNvSpPr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1000" b="0" i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15 / 15</a:t>
            </a:r>
          </a:p>
        </p:txBody>
      </p:sp>
    </p:spTree>
    <p:extLst>
      <p:ext uri="{BB962C8B-B14F-4D97-AF65-F5344CB8AC3E}">
        <p14:creationId xmlns:p14="http://schemas.microsoft.com/office/powerpoint/2010/main" val="8240563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943</Words>
  <Application>Microsoft Office PowerPoint</Application>
  <DocSecurity>0</DocSecurity>
  <PresentationFormat>宽屏</PresentationFormat>
  <Paragraphs>347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8" baseType="lpstr">
      <vt:lpstr>Microsoft YaHei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有忠 姚</cp:lastModifiedBy>
  <cp:revision>4</cp:revision>
  <dcterms:created xsi:type="dcterms:W3CDTF">2026-06-16T08:25:49Z</dcterms:created>
  <dcterms:modified xsi:type="dcterms:W3CDTF">2026-06-16T08:41:11Z</dcterms:modified>
</cp:coreProperties>
</file>