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672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B372D-CAC0-442A-A97D-442730D6C27F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D5081-A69E-4D13-A37C-DFF89BFB5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7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D5081-A69E-4D13-A37C-DFF89BFB553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300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463040" cy="320040"/>
          </a:xfrm>
          <a:prstGeom prst="round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FFFFFF"/>
                </a:solidFill>
                <a:latin typeface="Microsoft YaHei"/>
              </a:rPr>
              <a:t>操作指南 v2.11</a:t>
            </a:r>
            <a:r>
              <a:rPr sz="1000" b="1" i="0" dirty="0">
                <a:solidFill>
                  <a:srgbClr val="FFFFFF"/>
                </a:solidFill>
                <a:latin typeface="Microsoft YaHei"/>
              </a:rPr>
              <a:t/>
            </a:r>
            <a:r>
              <a:rPr lang="en-US" sz="1000" b="1" dirty="0">
                <a:solidFill>
                  <a:srgbClr val="FFFFFF"/>
                </a:solidFill>
                <a:latin typeface="Microsoft YaHei"/>
              </a:rPr>
              <a:t/>
            </a:r>
            <a:endParaRPr sz="1000" b="1" i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Microsoft YaHei"/>
              </a:rPr>
              <a:t>BOSS 招聘系统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8652C"/>
                </a:solidFill>
                <a:latin typeface="Microsoft YaHei"/>
              </a:rPr>
              <a:t>操作指南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B8D"/>
                </a:solidFill>
                <a:latin typeface="Microsoft YaHei"/>
              </a:rPr>
              <a:t>岗位配置 · 智能筛选 · AI 评估 · 自动打招呼 · 结果导出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适用对象：图形界面用户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B8D"/>
                </a:solidFill>
                <a:latin typeface="Microsoft YaHei"/>
              </a:rPr>
              <a:t>2026 · 内部培训资料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463040" cy="320040"/>
          </a:xfrm>
          <a:prstGeom prst="round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系统能
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把候选人获取、筛选、评分、打招呼和导出串成一个可重复执行的流程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64008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594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规则筛选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学历 / 经验 / 年龄 / 薪资 / 地点 / 必要条件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技能评分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745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关键词权重匹配，四维模型打分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256032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AI 二次评估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8346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大模型对通过筛选者做 ±10 分调整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352044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三级提取链路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794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API 直调 + 接口监听 + DOM 滚动兜底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448056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自动打招呼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按推荐等级阈值自动发送沟通消息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544068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导出统计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715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Excel 导出 + 按岗位统计看板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工作流程全景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从配置到导出，7 步完成完整筛选流程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463040" cy="73152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启动系统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双击打开程序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21408" y="2011680"/>
            <a:ext cx="1463040" cy="7315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24328" y="2286000"/>
            <a:ext cx="457200" cy="457200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配置岗位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新建岗位规则
或解析 JD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6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85616" y="2011680"/>
            <a:ext cx="14630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88536" y="2286000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配置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可选
配置大模型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49824" y="2011680"/>
            <a:ext cx="1463040" cy="73152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52744" y="2286000"/>
            <a:ext cx="457200" cy="45720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连接浏览器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连接 Chrome
打开推荐页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032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14032" y="2011680"/>
            <a:ext cx="146304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16952" y="22860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运行筛选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滚动提取 +
评分 +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78240" y="2011680"/>
            <a:ext cx="146304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281160" y="228600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查看结果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候选人列表
右键操作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7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52C"/>
                </a:solidFill>
                <a:latin typeface="Microsoft Ya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42448" y="2011680"/>
            <a:ext cx="1463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442448" y="2011680"/>
            <a:ext cx="1463040" cy="73152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945368" y="2286000"/>
            <a:ext cx="457200" cy="45720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导出/统计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3888" y="338328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Excel 导出
数据统计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主界面导航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左侧固定导航栏 + 右侧内容区，6 个功能模块覆盖全流程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900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737360"/>
            <a:ext cx="54864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首页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全局统计 + 快捷入口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514600"/>
            <a:ext cx="54864" cy="5486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岗位配置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新建/修改/导入/导出规则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91839"/>
            <a:ext cx="54864" cy="54864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运行控制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连接浏览器 + 运行参数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79"/>
            <a:ext cx="54864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筛选结果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433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候选人列表 + 右键操作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846320"/>
            <a:ext cx="54864" cy="5486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数据统计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按岗位/时间统计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623560"/>
            <a:ext cx="54864" cy="54864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系统设置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Microsoft YaHei"/>
              </a:rPr>
              <a:t>AI 服务商 + API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6217920"/>
            <a:ext cx="530352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6263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💡 使用顺序：岗位配置 → 系统设置 → 运行控制 → 筛选结果 → 数据统计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岗位配置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岗位规则直接决定候选人是否被淘汰，尤其是必要条件和工作地点</a:t>
            </a:r>
          </a:p>
        </p:txBody>
      </p:sp>
      <p:pic>
        <p:nvPicPr>
          <p:cNvPr id="5" name="Picture 4" descr="02-job-config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68" y="1320840"/>
            <a:ext cx="2779904" cy="554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核心字段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2148839"/>
            <a:ext cx="137160" cy="13716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岗位名称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当前岗位规则名称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679191"/>
            <a:ext cx="137160" cy="137160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2587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最低学历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87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低于该学历直接淘汰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3209544"/>
            <a:ext cx="137160" cy="137160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3118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最低经验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11810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工作年限不足直接淘汰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739895"/>
            <a:ext cx="137160" cy="1371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364845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最大年龄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64845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超过上限直接淘汰，留空不限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270247"/>
            <a:ext cx="137160" cy="1371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4178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薪资范围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17880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期望薪资明显超出预算时淘汰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800599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47091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工作地点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709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支持多地点: 南京、上海/杭州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5330951"/>
            <a:ext cx="137160" cy="1371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技能关键词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239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用于评分，不一定直接淘汰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5861303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5769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必要条件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7698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不满足直接淘汰，如"统招本科"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6400800"/>
            <a:ext cx="4754880" cy="32004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F5F"/>
                </a:solidFill>
                <a:latin typeface="Microsoft YaHei"/>
              </a:rPr>
              <a:t>权重建议：1=普通  2=核心  3=强核心（不要全部设高权重）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招聘需求自动解析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粘贴 JD → 系统自动提取字段 → 人工检查修正 → 保存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91640" y="2103120"/>
            <a:ext cx="640080" cy="64008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838"/>
                </a:solidFill>
                <a:latin typeface="Microsoft YaHei"/>
              </a:rPr>
              <a:t>粘贴招聘需求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Microsoft YaHei"/>
              </a:rPr>
              <a:t>把 JD 文本粘贴到
文本框中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838"/>
                </a:solidFill>
                <a:latin typeface="Microsoft YaHei"/>
              </a:rPr>
              <a:t>参考示例模板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Microsoft YaHei"/>
              </a:rPr>
              <a:t>不清楚格式？点击
"招聘需求示例"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60920" y="2103120"/>
            <a:ext cx="640080" cy="64008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838"/>
                </a:solidFill>
                <a:latin typeface="Microsoft YaHei"/>
              </a:rPr>
              <a:t>解析 + 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Microsoft YaHei"/>
              </a:rPr>
              <a:t>检查自动提取的字段
手工修正偏差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95560" y="2103120"/>
            <a:ext cx="640080" cy="64008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838"/>
                </a:solidFill>
                <a:latin typeface="Microsoft YaHei"/>
              </a:rPr>
              <a:t>保存配置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B8D"/>
                </a:solidFill>
                <a:latin typeface="Microsoft YaHei"/>
              </a:rPr>
              <a:t>确认无误后保存
生成岗位规则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698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2C"/>
                </a:solidFill>
                <a:latin typeface="Microsoft YaHei"/>
              </a:rPr>
              <a:t>⚠️  解析功能是辅助，不是最终裁决。保存前必须人工检查：薪资上下限、必要条件、技能关键词权重。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03-api-config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45" y="1419640"/>
            <a:ext cx="5014752" cy="414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配置大模型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可选配置。启用 AI 辅助评估时，需要先完成模型配置和连通性测试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配置 6 步</a:t>
            </a:r>
          </a:p>
        </p:txBody>
      </p:sp>
      <p:sp>
        <p:nvSpPr>
          <p:cNvPr id="7" name="Oval 6"/>
          <p:cNvSpPr/>
          <p:nvPr/>
        </p:nvSpPr>
        <p:spPr>
          <a:xfrm>
            <a:off x="6949440" y="2121408"/>
            <a:ext cx="256032" cy="256032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选择服务商（通义千问 / DeepSeek / Kimi / OpenAI ...）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624328"/>
            <a:ext cx="256032" cy="256032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填写 Base URL（系统给出默认地址）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0" y="3127248"/>
            <a:ext cx="256032" cy="256032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输入 API Key（加密存储在系统钥匙串）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3630168"/>
            <a:ext cx="256032" cy="256032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获取或输入模型名称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4133088"/>
            <a:ext cx="256032" cy="256032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点击「测试连接」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4636008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572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测试通过 → 保存并添加到列表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34747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6144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B2838"/>
                </a:solidFill>
                <a:latin typeface="Microsoft YaHei"/>
              </a:rPr>
              <a:t>🔐 </a:t>
            </a:r>
            <a:r>
              <a:rPr sz="1200" b="1" i="0" dirty="0" err="1">
                <a:solidFill>
                  <a:srgbClr val="1B2838"/>
                </a:solidFill>
                <a:latin typeface="Microsoft YaHei"/>
              </a:rPr>
              <a:t>安全存储</a:t>
            </a:r>
            <a:endParaRPr sz="1200" b="1" i="0" dirty="0">
              <a:solidFill>
                <a:srgbClr val="1B2838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8887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7B8D"/>
                </a:solidFill>
                <a:latin typeface="Microsoft YaHei"/>
              </a:rPr>
              <a:t>API Key </a:t>
            </a:r>
            <a:r>
              <a:rPr sz="1000" b="0" i="0" dirty="0" err="1">
                <a:solidFill>
                  <a:srgbClr val="6B7B8D"/>
                </a:solidFill>
                <a:latin typeface="Microsoft YaHei"/>
              </a:rPr>
              <a:t>加密保存在系统钥匙串</a:t>
            </a:r>
            <a:r>
              <a:rPr sz="1000" b="0" i="0" dirty="0">
                <a:solidFill>
                  <a:srgbClr val="6B7B8D"/>
                </a:solidFill>
                <a:latin typeface="Microsoft YaHei"/>
              </a:rPr>
              <a:t>
</a:t>
            </a:r>
            <a:r>
              <a:rPr sz="1000" b="0" i="0" dirty="0" err="1">
                <a:solidFill>
                  <a:srgbClr val="6B7B8D"/>
                </a:solidFill>
                <a:latin typeface="Microsoft YaHei"/>
              </a:rPr>
              <a:t>配置文件中不含明文</a:t>
            </a:r>
            <a:r>
              <a:rPr sz="1000" b="0" i="0" dirty="0">
                <a:solidFill>
                  <a:srgbClr val="6B7B8D"/>
                </a:solidFill>
                <a:latin typeface="Microsoft YaHei"/>
              </a:rPr>
              <a:t>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5486400"/>
            <a:ext cx="34747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56144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B2838"/>
                </a:solidFill>
                <a:latin typeface="Microsoft YaHei"/>
              </a:rPr>
              <a:t>🔄 </a:t>
            </a:r>
            <a:r>
              <a:rPr sz="1200" b="1" i="0" dirty="0" err="1">
                <a:solidFill>
                  <a:srgbClr val="1B2838"/>
                </a:solidFill>
                <a:latin typeface="Microsoft YaHei"/>
              </a:rPr>
              <a:t>多接入方式</a:t>
            </a:r>
            <a:endParaRPr sz="1200" b="1" i="0" dirty="0">
              <a:solidFill>
                <a:srgbClr val="1B2838"/>
              </a:solidFill>
              <a:latin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58887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同一服务商按 provider+base_url
区分不同接入方式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486400"/>
            <a:ext cx="34747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56144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🔍 模型管理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8887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搜索/多选/批量测试/新增检测
支持下线模型提醒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连接 BOSS 直聘页面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系统通过 Chrome DevTools 协议连接浏览器，操控 BOSS 推荐页面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74519"/>
            <a:ext cx="365760" cy="3657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点击「检测/连接浏览器」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2240280"/>
            <a:ext cx="54864" cy="27432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365760" cy="3657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系统连接或启动 Chrome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880360"/>
            <a:ext cx="54864" cy="27432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3154679"/>
            <a:ext cx="365760" cy="3657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登录 BOSS 直聘账号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520440"/>
            <a:ext cx="54864" cy="27432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794759"/>
            <a:ext cx="365760" cy="3657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打开「推荐牛人」页面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4160520"/>
            <a:ext cx="54864" cy="27432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回到系统确认状态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52C"/>
                </a:solidFill>
                <a:latin typeface="Microsoft YaHei"/>
              </a:rPr>
              <a:t>浏览器状态判断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560320"/>
            <a:ext cx="5486400" cy="91440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0" y="2697479"/>
            <a:ext cx="10972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未连接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没有连到 Chrome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→ 点击检测/连接浏览器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657600"/>
            <a:ext cx="5486400" cy="91440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10972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需导航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已连接但不在推荐页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→ 手工打开推荐页面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754879"/>
            <a:ext cx="5486400" cy="91440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26480" y="4892040"/>
            <a:ext cx="109728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已连接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846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已连接到推荐页面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2120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→ ✅ 可以开始运行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39C12"/>
                </a:solidFill>
                <a:latin typeface="Microsoft YaHei"/>
              </a:rPr>
              <a:t>⚠️  系统不会替你绕过验证码。出现验证时，先在浏览器完成验证，再回到系统继续。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运行筛选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运行前确认：浏览器已连接 + 推荐页面已打开 + 岗位选择正确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63888" y="13880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运行参数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888" y="1936708"/>
            <a:ext cx="50292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6768" y="198242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选择岗位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688" y="19824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单岗位优先；全部岗位适合批量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888" y="2485348"/>
            <a:ext cx="50292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6768" y="25310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滚动轮次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688" y="25310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默认 100，测试可设 20-50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888" y="3033987"/>
            <a:ext cx="50292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6768" y="307970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AI 辅助评估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688" y="307970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需模型配置，增加耗时和成本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888" y="3582627"/>
            <a:ext cx="50292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6768" y="362834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自动打招呼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688" y="362834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首次建议"仅筛选"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888" y="42227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打招呼策略</a:t>
            </a:r>
          </a:p>
        </p:txBody>
      </p:sp>
      <p:sp>
        <p:nvSpPr>
          <p:cNvPr id="19" name="Oval 18"/>
          <p:cNvSpPr/>
          <p:nvPr/>
        </p:nvSpPr>
        <p:spPr>
          <a:xfrm>
            <a:off x="6255328" y="4844500"/>
            <a:ext cx="182880" cy="182880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1088" y="47530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仅筛选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8448" y="47530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只提取、评分、保存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8688" y="47530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8D"/>
                </a:solidFill>
                <a:latin typeface="Microsoft YaHei"/>
              </a:rPr>
              <a:t>首次测试推荐</a:t>
            </a:r>
          </a:p>
        </p:txBody>
      </p:sp>
      <p:sp>
        <p:nvSpPr>
          <p:cNvPr id="23" name="Oval 22"/>
          <p:cNvSpPr/>
          <p:nvPr/>
        </p:nvSpPr>
        <p:spPr>
          <a:xfrm>
            <a:off x="6255328" y="5393140"/>
            <a:ext cx="182880" cy="182880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1088" y="5301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仅强烈推荐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8448" y="53017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≥75 分才打招呼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8688" y="5301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52C"/>
                </a:solidFill>
                <a:latin typeface="Microsoft YaHei"/>
              </a:rPr>
              <a:t>保守策略</a:t>
            </a:r>
          </a:p>
        </p:txBody>
      </p:sp>
      <p:sp>
        <p:nvSpPr>
          <p:cNvPr id="27" name="Oval 26"/>
          <p:cNvSpPr/>
          <p:nvPr/>
        </p:nvSpPr>
        <p:spPr>
          <a:xfrm>
            <a:off x="6255328" y="5941780"/>
            <a:ext cx="182880" cy="182880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1088" y="58503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推荐+强烈推荐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8448" y="58503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≥65 分就打招呼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8688" y="58503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D7DD2"/>
                </a:solidFill>
                <a:latin typeface="Microsoft YaHei"/>
              </a:rPr>
              <a:t>积极策略</a:t>
            </a:r>
          </a:p>
        </p:txBody>
      </p:sp>
      <p:pic>
        <p:nvPicPr>
          <p:cNvPr id="31" name="Picture 30" descr="04-ru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84" y="1371600"/>
            <a:ext cx="4614731" cy="5472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评分体系与推荐等级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四维评分 + AI 调整 + 简历评估，三层叠加决定推荐等级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四维评分模型（满分 100）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560320" cy="54864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基础分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2838"/>
                </a:solidFill>
                <a:latin typeface="Microsoft YaHe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固定基础分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2194560"/>
            <a:ext cx="2560320" cy="54864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技能匹配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7DD2"/>
                </a:solidFill>
                <a:latin typeface="Microsoft YaHei"/>
              </a:rPr>
              <a:t>0~50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关键词权重 × 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2560320" cy="54864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经验超额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52C"/>
                </a:solidFill>
                <a:latin typeface="Microsoft YaHei"/>
              </a:rPr>
              <a:t>0~15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超出要求年限加分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1945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2194560"/>
            <a:ext cx="25603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838"/>
                </a:solidFill>
                <a:latin typeface="Microsoft YaHei"/>
              </a:rPr>
              <a:t>学历档次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C5CE7"/>
                </a:solidFill>
                <a:latin typeface="Microsoft YaHei"/>
              </a:rPr>
              <a:t>0~10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B8D"/>
                </a:solidFill>
                <a:latin typeface="Microsoft YaHei"/>
              </a:rPr>
              <a:t>硕博/本科/大专分档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推荐等级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164592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强烈推荐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≥ 75 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自动打招呼（激进策略）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1645920" cy="365760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推    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239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65-74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自动打招呼（保守策略）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0720"/>
            <a:ext cx="164592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待    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742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55-64 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742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仅保存，不打招呼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263640"/>
            <a:ext cx="164592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淘    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6245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&lt; 55 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6245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不进入结果统计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206240"/>
            <a:ext cx="45720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Microsoft YaHei"/>
              </a:rPr>
              <a:t>🤖 AI 二次评估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72930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D4F5F"/>
                </a:solidFill>
                <a:latin typeface="Microsoft YaHei"/>
              </a:rPr>
              <a:t>• 对 ≥55 </a:t>
            </a:r>
            <a:r>
              <a:rPr sz="1100" b="0" i="0" dirty="0" err="1">
                <a:solidFill>
                  <a:srgbClr val="3D4F5F"/>
                </a:solidFill>
                <a:latin typeface="Microsoft YaHei"/>
              </a:rPr>
              <a:t>分候选人做</a:t>
            </a:r>
            <a:r>
              <a:rPr sz="1100" b="0" i="0" dirty="0">
                <a:solidFill>
                  <a:srgbClr val="3D4F5F"/>
                </a:solidFill>
                <a:latin typeface="Microsoft YaHei"/>
              </a:rPr>
              <a:t> LLM </a:t>
            </a:r>
            <a:r>
              <a:rPr sz="1100" b="0" i="0" dirty="0" err="1">
                <a:solidFill>
                  <a:srgbClr val="3D4F5F"/>
                </a:solidFill>
                <a:latin typeface="Microsoft YaHei"/>
              </a:rPr>
              <a:t>二次评估</a:t>
            </a:r>
            <a:endParaRPr sz="1100" b="0" i="0" dirty="0">
              <a:solidFill>
                <a:srgbClr val="3D4F5F"/>
              </a:solidFill>
              <a:latin typeface="Microsoft Ya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32320" y="509506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D4F5F"/>
                </a:solidFill>
                <a:latin typeface="Microsoft YaHei"/>
              </a:rPr>
              <a:t>• </a:t>
            </a:r>
            <a:r>
              <a:rPr sz="1100" b="0" i="0" dirty="0" err="1">
                <a:solidFill>
                  <a:srgbClr val="3D4F5F"/>
                </a:solidFill>
                <a:latin typeface="Microsoft YaHei"/>
              </a:rPr>
              <a:t>调整分范围</a:t>
            </a:r>
            <a:r>
              <a:rPr sz="1100" b="0" i="0" dirty="0">
                <a:solidFill>
                  <a:srgbClr val="3D4F5F"/>
                </a:solidFill>
                <a:latin typeface="Microsoft YaHei"/>
              </a:rPr>
              <a:t>：±10 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46082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• 叠加公式：规则分 + AI 调整 + 简历调整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82658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• 默认并发 5 路，429 限流退避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619234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• 简历导入后再做二次评估（±10）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10 /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7434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2838"/>
                </a:solidFill>
                <a:latin typeface="Microsoft YaHei"/>
              </a:rPr>
              <a:t>📄 简历二次评估</a:t>
            </a:r>
          </a:p>
          <a:p>
            <a:r>
              <a:rPr sz="1600">
                <a:solidFill>
                  <a:srgbClr val="1B2838"/>
                </a:solidFill>
                <a:latin typeface="Microsoft YaHei"/>
              </a:rPr>
              <a:t>• 导入候选人 PDF/Word 简历</a:t>
            </a:r>
          </a:p>
          <a:p>
            <a:r>
              <a:rPr sz="1600">
                <a:solidFill>
                  <a:srgbClr val="1B2838"/>
                </a:solidFill>
                <a:latin typeface="Microsoft YaHei"/>
              </a:rPr>
              <a:t>• LLM 基于完整简历做二次评估</a:t>
            </a:r>
          </a:p>
          <a:p>
            <a:r>
              <a:rPr sz="1600">
                <a:solidFill>
                  <a:srgbClr val="1B2838"/>
                </a:solidFill>
                <a:latin typeface="Microsoft YaHei"/>
              </a:rPr>
              <a:t>• 调整分 ±10，叠加到最终匹配分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筛选结果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候选人列表 · 黑名单 · 导入简历做二次评估 · 导出 Excel</a:t>
            </a:r>
          </a:p>
        </p:txBody>
      </p:sp>
      <p:pic>
        <p:nvPicPr>
          <p:cNvPr id="5" name="Picture 4" descr="05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40175"/>
            <a:ext cx="6553059" cy="37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172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1B2838"/>
                </a:solidFill>
                <a:latin typeface="Microsoft YaHei"/>
              </a:rPr>
              <a:t>常用操作</a:t>
            </a:r>
            <a:endParaRPr sz="1800" b="1" i="0" dirty="0">
              <a:solidFill>
                <a:srgbClr val="1B2838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80301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2838"/>
                </a:solidFill>
                <a:latin typeface="Microsoft YaHei"/>
              </a:rP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755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刷新结果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8030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从 JSON 重新加载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2608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44309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2838"/>
                </a:solidFill>
                <a:latin typeface="Microsoft YaHe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156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导出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44309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生成/更新 XLSX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56616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08317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2838"/>
                </a:solidFill>
                <a:latin typeface="Microsoft YaHei"/>
              </a:rPr>
              <a:t>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5574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打开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08317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用默认程序打开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20624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372325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2838"/>
                </a:solidFill>
                <a:latin typeface="Microsoft YaHei"/>
              </a:rPr>
              <a:t>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9582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838"/>
                </a:solidFill>
                <a:latin typeface="Microsoft YaHei"/>
              </a:rPr>
              <a:t>清空候选人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72325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操作前备份；黑名单记录保留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5004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右键菜单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04913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▸ 查看候选人详情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36917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▸ 单独打招呼 / 加入黑名单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68921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▸ 导入简历 / 移除候选人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600925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F5F"/>
                </a:solidFill>
                <a:latin typeface="Microsoft YaHei"/>
              </a:rPr>
              <a:t>▸ 导出选中候选人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数据统计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按岗位和时间范围统计，判断规则质量</a:t>
            </a:r>
          </a:p>
        </p:txBody>
      </p:sp>
      <p:pic>
        <p:nvPicPr>
          <p:cNvPr id="5" name="Picture 4" descr="06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06" y="1893276"/>
            <a:ext cx="6553058" cy="37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5744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838"/>
                </a:solidFill>
                <a:latin typeface="Microsoft YaHei"/>
              </a:rPr>
              <a:t>统计指标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95744" y="192024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95744" y="1920240"/>
            <a:ext cx="54864" cy="914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78624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总候选人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≥55 分的人数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64624" y="192024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64624" y="1920240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47503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强烈推荐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47503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≥75 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5744" y="2971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95744" y="2971800"/>
            <a:ext cx="54864" cy="9144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78624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65-74 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4624" y="2971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64624" y="297180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47503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待定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3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55-64 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5744" y="4023359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5744" y="4023359"/>
            <a:ext cx="54864" cy="9144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78624" y="41147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已打招呼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480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已发送消息数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4023359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4023359"/>
            <a:ext cx="5486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47503" y="41147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优质率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3" y="4480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强推+推荐占比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5744" y="507492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095744" y="5074920"/>
            <a:ext cx="54864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4" y="51663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打招呼率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已打招呼占比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64624" y="507492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64624" y="5074920"/>
            <a:ext cx="54864" cy="91440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3" y="51663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平均分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3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Microsoft YaHei"/>
              </a:rPr>
              <a:t>当前范围均分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716" y="6176751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476" y="622247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💡 优质率极低？通常不是市场没人，而是规则过硬、关键词偏窄或推荐池不匹配。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推荐操作习惯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B8D"/>
                </a:solidFill>
                <a:latin typeface="Microsoft YaHei"/>
              </a:rPr>
              <a:t>新岗位先试跑，成熟岗位日常跑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54864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286000" cy="365760"/>
          </a:xfrm>
          <a:prstGeom prst="round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新岗位首次跑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87751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先只配置规则，不启用 AI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36391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打招呼策略选「不打招呼（仅筛选）」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85032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滚动轮次设为 20-50（少量测试）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33672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看结果里的误杀、误放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82312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调整岗位规则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330952"/>
            <a:ext cx="292608" cy="292608"/>
          </a:xfrm>
          <a:prstGeom prst="ellipse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确认规则后开启「仅强烈推荐」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5303520" cy="54864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83680" y="1920240"/>
            <a:ext cx="2286000" cy="365760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成熟岗位日常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2587751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542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检查浏览器连接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136391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0906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确认 BOSS 当前职位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85032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639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运行筛选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4233672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187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查看筛选结果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4782312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365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导出 Excel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5330952"/>
            <a:ext cx="292608" cy="29260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2852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838"/>
                </a:solidFill>
                <a:latin typeface="Microsoft YaHei"/>
              </a:rPr>
              <a:t>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F5F"/>
                </a:solidFill>
                <a:latin typeface="Microsoft YaHei"/>
              </a:rPr>
              <a:t>查看统计，判断是否微调规则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838"/>
                </a:solidFill>
                <a:latin typeface="Microsoft YaHei"/>
              </a:rPr>
              <a:t>常见问题速查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508760"/>
            <a:ext cx="4572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提示「未连接」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回到运行控制 → 点击检测/连接浏览器 → 确认 Chrome 已启动且打开推荐页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4864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2377440"/>
            <a:ext cx="4572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提示「需导航」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060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Chrome 已连接但不在推荐页 → 手工打开目标岗位的推荐牛人页面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3246120"/>
            <a:ext cx="4572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54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BOSS 弹出验证码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747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系统暂停等待 → 在浏览器完成验证 → 回到系统选择继续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54864" cy="7315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4114800"/>
            <a:ext cx="457200" cy="457200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AI 评估失败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434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检查 API Key → Base URL → 模型名称 → 是否已开通 → 额度是否耗尽（不要先改规则）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54864" cy="731520"/>
          </a:xfrm>
          <a:prstGeom prst="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5840" y="4983480"/>
            <a:ext cx="457200" cy="457200"/>
          </a:xfrm>
          <a:prstGeom prst="roundRect">
            <a:avLst/>
          </a:prstGeom>
          <a:solidFill>
            <a:srgbClr val="E86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候选人很少/质量差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120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检查：职位选对？地点过窄？必要过硬？关键词过少？轮次太低？推荐池枯竭？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5715000"/>
            <a:ext cx="54864" cy="7315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5840" y="5852160"/>
            <a:ext cx="457200" cy="457200"/>
          </a:xfrm>
          <a:prstGeom prst="round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838"/>
                </a:solidFill>
                <a:latin typeface="Microsoft YaHei"/>
              </a:rPr>
              <a:t>Excel 没有更新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60807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B8D"/>
                </a:solidFill>
                <a:latin typeface="Microsoft YaHei"/>
              </a:rPr>
              <a:t>筛选结果 → 刷新结果 → 导出 Excel → 确认 JSON 有新数据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快速检查清单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52C"/>
                </a:solidFill>
                <a:latin typeface="Microsoft YaHei"/>
              </a:rPr>
              <a:t>运行前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岗位规则已保存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BOSS 网页端已登录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Chrome 已连接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当前页面是目标岗位推荐牛人页面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系统选择岗位与 BOSS 页面一致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AI 模型已测试通过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新岗位未直接启用大范围打招呼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52C"/>
                </a:solidFill>
                <a:latin typeface="Microsoft YaHei"/>
              </a:rPr>
              <a:t>运行后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筛选结果页已刷新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Excel 已导出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数据统计已查看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异常候选人已核对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☑  必要时备份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B8D"/>
                </a:solidFill>
                <a:latin typeface="Microsoft YaHei"/>
              </a:rPr>
              <a:t>关键数据文件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2103120" cy="54864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2C"/>
                </a:solidFill>
                <a:latin typeface="Microsoft YaHei"/>
              </a:rPr>
              <a:t>job_config.json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Microsoft YaHei"/>
              </a:rPr>
              <a:t>岗位规则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5669280"/>
            <a:ext cx="2103120" cy="54864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2C"/>
                </a:solidFill>
                <a:latin typeface="Microsoft YaHei"/>
              </a:rPr>
              <a:t>api_config.json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943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Microsoft YaHei"/>
              </a:rPr>
              <a:t>模型配置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669280"/>
            <a:ext cx="2103120" cy="54864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59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2C"/>
                </a:solidFill>
                <a:latin typeface="Microsoft YaHei"/>
              </a:rPr>
              <a:t>candidates_all.json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5943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Microsoft YaHei"/>
              </a:rPr>
              <a:t>候选人数据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5669280"/>
            <a:ext cx="2103120" cy="54864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2C"/>
                </a:solidFill>
                <a:latin typeface="Microsoft YaHei"/>
              </a:rPr>
              <a:t>candidates_all.xlsx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943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Microsoft YaHei"/>
              </a:rPr>
              <a:t>Excel 导出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5669280"/>
            <a:ext cx="2103120" cy="54864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2C"/>
                </a:solidFill>
                <a:latin typeface="Microsoft YaHei"/>
              </a:rPr>
              <a:t>selectors.json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943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B8D"/>
                </a:solidFill>
                <a:latin typeface="Microsoft YaHei"/>
              </a:rPr>
              <a:t>页面选择器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B7B8D"/>
                </a:solidFill>
                <a:latin typeface="Microsoft YaHei"/>
              </a:rPr>
              <a:t>BOSS 招聘系统 v2.11 · 操作指南 · 2026</a:t>
            </a:r>
            <a:r>
              <a:rPr sz="1100" b="0" i="0" dirty="0" err="1">
                <a:solidFill>
                  <a:srgbClr val="6B7B8D"/>
                </a:solidFill>
                <a:latin typeface="Microsoft YaHei"/>
              </a:rPr>
              <a:t/>
            </a:r>
            <a:r>
              <a:rPr sz="1100" b="0" i="0" dirty="0">
                <a:solidFill>
                  <a:srgbClr val="6B7B8D"/>
                </a:solidFill>
                <a:latin typeface="Microsoft YaHei"/>
              </a:rPr>
              <a:t/>
            </a:r>
            <a:r>
              <a:rPr lang="en-US" sz="1100" dirty="0">
                <a:solidFill>
                  <a:srgbClr val="6B7B8D"/>
                </a:solidFill>
                <a:latin typeface="Microsoft YaHei"/>
              </a:rPr>
              <a:t/>
            </a:r>
            <a:r>
              <a:rPr sz="1100" b="0" i="0" dirty="0">
                <a:solidFill>
                  <a:srgbClr val="6B7B8D"/>
                </a:solidFill>
                <a:latin typeface="Microsoft YaHei"/>
              </a:rPr>
              <a:t/>
            </a:r>
            <a:r>
              <a:rPr sz="1100" b="0" i="0" dirty="0" err="1">
                <a:solidFill>
                  <a:srgbClr val="6B7B8D"/>
                </a:solidFill>
                <a:latin typeface="Microsoft YaHei"/>
              </a:rPr>
              <a:t/>
            </a:r>
            <a:r>
              <a:rPr sz="1100" b="0" i="0" dirty="0">
                <a:solidFill>
                  <a:srgbClr val="6B7B8D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  <a:latin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2013 - 2022 主题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882</Words>
  <Application>Microsoft Office PowerPoint</Application>
  <PresentationFormat>宽屏</PresentationFormat>
  <Paragraphs>340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有忠 姚</cp:lastModifiedBy>
  <cp:revision>5</cp:revision>
  <dcterms:created xsi:type="dcterms:W3CDTF">2013-01-27T09:14:16Z</dcterms:created>
  <dcterms:modified xsi:type="dcterms:W3CDTF">2026-06-04T03:08:47Z</dcterms:modified>
  <cp:category/>
</cp:coreProperties>
</file>