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6" d="100"/>
          <a:sy n="126" d="100"/>
        </p:scale>
        <p:origin x="672" y="7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B372D-CAC0-442A-A97D-442730D6C27F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1D5081-A69E-4D13-A37C-DFF89BFB553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2765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1D5081-A69E-4D13-A37C-DFF89BFB553E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8300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01200" y="-1371600"/>
            <a:ext cx="3657600" cy="3657600"/>
          </a:xfrm>
          <a:prstGeom prst="ellipse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2743200" cy="2743200"/>
          </a:xfrm>
          <a:prstGeom prst="ellipse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463040" cy="320040"/>
          </a:xfrm>
          <a:prstGeom prst="round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 dirty="0" err="1">
                <a:solidFill>
                  <a:srgbClr val="FFFFFF"/>
                </a:solidFill>
                <a:latin typeface="Microsoft YaHei"/>
              </a:rPr>
              <a:t>操作指南</a:t>
            </a:r>
            <a:r>
              <a:rPr sz="1000" b="1" i="0" dirty="0">
                <a:solidFill>
                  <a:srgbClr val="FFFFFF"/>
                </a:solidFill>
                <a:latin typeface="Microsoft YaHei"/>
              </a:rPr>
              <a:t> v2.9</a:t>
            </a:r>
            <a:r>
              <a:rPr lang="en-US" sz="1000" b="1" dirty="0">
                <a:solidFill>
                  <a:srgbClr val="FFFFFF"/>
                </a:solidFill>
                <a:latin typeface="Microsoft YaHei"/>
              </a:rPr>
              <a:t>.2</a:t>
            </a:r>
            <a:endParaRPr sz="1000" b="1" i="0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Microsoft YaHei"/>
              </a:rPr>
              <a:t>BOSS 招聘系统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E8652C"/>
                </a:solidFill>
                <a:latin typeface="Microsoft YaHei"/>
              </a:rPr>
              <a:t>操作指南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B7B8D"/>
                </a:solidFill>
                <a:latin typeface="Microsoft YaHei"/>
              </a:rPr>
              <a:t>岗位配置 · 智能筛选 · AI 评估 · 自动打招呼 · 结果导出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943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  <a:latin typeface="Microsoft YaHei"/>
              </a:rPr>
              <a:t>适用对象：图形界面用户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943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7B8D"/>
                </a:solidFill>
                <a:latin typeface="Microsoft YaHei"/>
              </a:rPr>
              <a:t>2026 · 内部培训资料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463040" cy="320040"/>
          </a:xfrm>
          <a:prstGeom prst="round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icrosoft YaHe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Microsoft YaHei"/>
              </a:rPr>
              <a:t>系统能
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把候选人获取、筛选、评分、打招呼和导出串成一个可重复执行的流程</a:t>
            </a:r>
          </a:p>
        </p:txBody>
      </p:sp>
      <p:sp>
        <p:nvSpPr>
          <p:cNvPr id="6" name="Oval 5"/>
          <p:cNvSpPr/>
          <p:nvPr/>
        </p:nvSpPr>
        <p:spPr>
          <a:xfrm>
            <a:off x="5120640" y="64008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5943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规则筛选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914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学历 / 经验 / 年龄 / 薪资 / 地点 / 必要条件</a:t>
            </a:r>
          </a:p>
        </p:txBody>
      </p:sp>
      <p:sp>
        <p:nvSpPr>
          <p:cNvPr id="9" name="Oval 8"/>
          <p:cNvSpPr/>
          <p:nvPr/>
        </p:nvSpPr>
        <p:spPr>
          <a:xfrm>
            <a:off x="5120640" y="160020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554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技能评分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87451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关键词权重匹配，四维模型打分</a:t>
            </a:r>
          </a:p>
        </p:txBody>
      </p:sp>
      <p:sp>
        <p:nvSpPr>
          <p:cNvPr id="12" name="Oval 11"/>
          <p:cNvSpPr/>
          <p:nvPr/>
        </p:nvSpPr>
        <p:spPr>
          <a:xfrm>
            <a:off x="5120640" y="256032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514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AI 二次评估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8346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大模型对通过筛选者做 ±10 分调整</a:t>
            </a:r>
          </a:p>
        </p:txBody>
      </p:sp>
      <p:sp>
        <p:nvSpPr>
          <p:cNvPr id="15" name="Oval 14"/>
          <p:cNvSpPr/>
          <p:nvPr/>
        </p:nvSpPr>
        <p:spPr>
          <a:xfrm>
            <a:off x="5120640" y="352044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474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自动滚动提取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7947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智能滚动 + 批量提取候选人卡片</a:t>
            </a:r>
          </a:p>
        </p:txBody>
      </p:sp>
      <p:sp>
        <p:nvSpPr>
          <p:cNvPr id="18" name="Oval 17"/>
          <p:cNvSpPr/>
          <p:nvPr/>
        </p:nvSpPr>
        <p:spPr>
          <a:xfrm>
            <a:off x="5120640" y="448056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4434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自动打招呼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按推荐等级阈值自动发送沟通消息</a:t>
            </a:r>
          </a:p>
        </p:txBody>
      </p:sp>
      <p:sp>
        <p:nvSpPr>
          <p:cNvPr id="21" name="Oval 20"/>
          <p:cNvSpPr/>
          <p:nvPr/>
        </p:nvSpPr>
        <p:spPr>
          <a:xfrm>
            <a:off x="5120640" y="544068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5394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导出统计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57150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Excel 导出 + 按岗位统计看板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工作流程全景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从配置到导出，7 步完成完整筛选流程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463040" cy="73152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2286000"/>
            <a:ext cx="457200" cy="45720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启动系统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双击打开程序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52C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121408" y="2011680"/>
            <a:ext cx="1463040" cy="73152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24328" y="2286000"/>
            <a:ext cx="457200" cy="457200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配置岗位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2848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新建岗位规则
或解析 JD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52C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85616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785616" y="2011680"/>
            <a:ext cx="1463040" cy="73152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288536" y="2286000"/>
            <a:ext cx="457200" cy="45720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056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配置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77056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可选
配置大模型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52C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9824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49824" y="2011680"/>
            <a:ext cx="1463040" cy="73152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952744" y="228600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41264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连接浏览器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41264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连接 Chrome
打开推荐页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52C"/>
                </a:solidFill>
                <a:latin typeface="Microsoft YaHe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14032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114032" y="2011680"/>
            <a:ext cx="146304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616952" y="228600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05472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运行筛选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滚动提取 +
评分 +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52C"/>
                </a:solidFill>
                <a:latin typeface="Microsoft YaHe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78240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778240" y="2011680"/>
            <a:ext cx="1463040" cy="73152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281160" y="2286000"/>
            <a:ext cx="457200" cy="45720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查看结果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候选人列表
右键操作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9567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52C"/>
                </a:solidFill>
                <a:latin typeface="Microsoft YaHei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42448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442448" y="2011680"/>
            <a:ext cx="1463040" cy="73152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945368" y="2286000"/>
            <a:ext cx="457200" cy="45720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YaHe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33888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导出/统计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33888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Excel 导出
数据统计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主界面导航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左侧固定导航栏 + 右侧内容区，6 个功能模块覆盖全流程</a:t>
            </a:r>
          </a:p>
        </p:txBody>
      </p:sp>
      <p:pic>
        <p:nvPicPr>
          <p:cNvPr id="5" name="Picture 4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29009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17920" y="1737360"/>
            <a:ext cx="54864" cy="54864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916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首页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7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  <a:latin typeface="Microsoft YaHei"/>
              </a:rPr>
              <a:t>全局统计 + 快捷入口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514600"/>
            <a:ext cx="54864" cy="5486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岗位配置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  <a:latin typeface="Microsoft YaHei"/>
              </a:rPr>
              <a:t>新建/修改/导入/导出规则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291839"/>
            <a:ext cx="54864" cy="54864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246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运行控制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6615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  <a:latin typeface="Microsoft YaHei"/>
              </a:rPr>
              <a:t>连接浏览器 + 运行参数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069079"/>
            <a:ext cx="54864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0233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筛选结果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4339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  <a:latin typeface="Microsoft YaHei"/>
              </a:rPr>
              <a:t>候选人列表 + 右键操作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846320"/>
            <a:ext cx="54864" cy="54864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4800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数据统计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120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  <a:latin typeface="Microsoft YaHei"/>
              </a:rPr>
              <a:t>按岗位/时间统计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5623560"/>
            <a:ext cx="54864" cy="548640"/>
          </a:xfrm>
          <a:prstGeom prst="rect">
            <a:avLst/>
          </a:prstGeom>
          <a:solidFill>
            <a:srgbClr val="6B7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5577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系统设置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97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  <a:latin typeface="Microsoft YaHei"/>
              </a:rPr>
              <a:t>AI 服务商 + API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6217920"/>
            <a:ext cx="5303520" cy="4572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6263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💡 使用顺序：岗位配置 → 系统设置 → 运行控制 → 筛选结果 → 数据统计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岗位配置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岗位规则直接决定候选人是否被淘汰，尤其是必要条件和工作地点</a:t>
            </a:r>
          </a:p>
        </p:txBody>
      </p:sp>
      <p:pic>
        <p:nvPicPr>
          <p:cNvPr id="5" name="Picture 4" descr="02-job-config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368" y="1320840"/>
            <a:ext cx="2779904" cy="554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838"/>
                </a:solidFill>
                <a:latin typeface="Microsoft YaHei"/>
              </a:rPr>
              <a:t>核心字段</a:t>
            </a:r>
          </a:p>
        </p:txBody>
      </p:sp>
      <p:sp>
        <p:nvSpPr>
          <p:cNvPr id="7" name="Oval 6"/>
          <p:cNvSpPr/>
          <p:nvPr/>
        </p:nvSpPr>
        <p:spPr>
          <a:xfrm>
            <a:off x="6858000" y="2148839"/>
            <a:ext cx="137160" cy="13716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2057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岗位名称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057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当前岗位规则名称</a:t>
            </a:r>
          </a:p>
        </p:txBody>
      </p:sp>
      <p:sp>
        <p:nvSpPr>
          <p:cNvPr id="10" name="Oval 9"/>
          <p:cNvSpPr/>
          <p:nvPr/>
        </p:nvSpPr>
        <p:spPr>
          <a:xfrm>
            <a:off x="6858000" y="2679191"/>
            <a:ext cx="137160" cy="137160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0" y="25877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最低学历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58775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低于该学历直接淘汰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0" y="3209544"/>
            <a:ext cx="137160" cy="137160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31181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最低经验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11810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工作年限不足直接淘汰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0" y="3739895"/>
            <a:ext cx="137160" cy="1371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0" y="364845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最大年龄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648455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超过上限直接淘汰，留空不限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0" y="4270247"/>
            <a:ext cx="137160" cy="13716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0" y="4178807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薪资范围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4178807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期望薪资明显超出预算时淘汰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0" y="4800599"/>
            <a:ext cx="137160" cy="1371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0" y="470915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工作地点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7091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支持多地点: 南京、上海/杭州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0" y="5330951"/>
            <a:ext cx="137160" cy="1371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0" y="5239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技能关键词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52395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用于评分，不一定直接淘汰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0" y="5861303"/>
            <a:ext cx="137160" cy="13716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0" y="5769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必要条件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76986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不满足直接淘汰，如"统招本科"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6400800"/>
            <a:ext cx="4754880" cy="32004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40880" y="6400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D4F5F"/>
                </a:solidFill>
                <a:latin typeface="Microsoft YaHei"/>
              </a:rPr>
              <a:t>权重建议：1=普通  2=核心  3=强核心（不要全部设高权重）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招聘需求自动解析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粘贴 JD → 系统自动提取字段 → 人工检查修正 → 保存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1640" y="2103120"/>
            <a:ext cx="640080" cy="64008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B2838"/>
                </a:solidFill>
                <a:latin typeface="Microsoft YaHei"/>
              </a:rPr>
              <a:t>粘贴招聘需求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B8D"/>
                </a:solidFill>
                <a:latin typeface="Microsoft YaHei"/>
              </a:rPr>
              <a:t>把 JD 文本粘贴到
文本框中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8288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26280" y="2103120"/>
            <a:ext cx="640080" cy="64008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B2838"/>
                </a:solidFill>
                <a:latin typeface="Microsoft YaHei"/>
              </a:rPr>
              <a:t>参考示例模板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3832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B8D"/>
                </a:solidFill>
                <a:latin typeface="Microsoft YaHei"/>
              </a:rPr>
              <a:t>不清楚格式？点击
"招聘需求示例"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288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360920" y="2103120"/>
            <a:ext cx="640080" cy="64008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B2838"/>
                </a:solidFill>
                <a:latin typeface="Microsoft YaHei"/>
              </a:rPr>
              <a:t>解析 + 检查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832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B8D"/>
                </a:solidFill>
                <a:latin typeface="Microsoft YaHei"/>
              </a:rPr>
              <a:t>检查自动提取的字段
手工修正偏差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8288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195560" y="2103120"/>
            <a:ext cx="640080" cy="64008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B2838"/>
                </a:solidFill>
                <a:latin typeface="Microsoft YaHei"/>
              </a:rPr>
              <a:t>保存配置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3832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B8D"/>
                </a:solidFill>
                <a:latin typeface="Microsoft YaHei"/>
              </a:rPr>
              <a:t>确认无误后保存
生成岗位规则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846320"/>
            <a:ext cx="106984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52C"/>
                </a:solidFill>
                <a:latin typeface="Microsoft YaHei"/>
              </a:rPr>
              <a:t>⚠️  解析功能是辅助，不是最终裁决。保存前必须人工检查：薪资上下限、必要条件、技能关键词权重。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03-api-config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245" y="1419640"/>
            <a:ext cx="5014752" cy="4140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配置大模型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可选配置。启用 AI 辅助评估时，需要先完成模型配置和连通性测试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838"/>
                </a:solidFill>
                <a:latin typeface="Microsoft YaHei"/>
              </a:rPr>
              <a:t>配置 6 步</a:t>
            </a:r>
          </a:p>
        </p:txBody>
      </p:sp>
      <p:sp>
        <p:nvSpPr>
          <p:cNvPr id="7" name="Oval 6"/>
          <p:cNvSpPr/>
          <p:nvPr/>
        </p:nvSpPr>
        <p:spPr>
          <a:xfrm>
            <a:off x="6949440" y="2121408"/>
            <a:ext cx="256032" cy="256032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0574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选择服务商（通义千问 / DeepSeek / Kimi / OpenAI ...）</a:t>
            </a:r>
          </a:p>
        </p:txBody>
      </p:sp>
      <p:sp>
        <p:nvSpPr>
          <p:cNvPr id="9" name="Oval 8"/>
          <p:cNvSpPr/>
          <p:nvPr/>
        </p:nvSpPr>
        <p:spPr>
          <a:xfrm>
            <a:off x="6949440" y="2624328"/>
            <a:ext cx="256032" cy="256032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填写 Base URL（系统给出默认地址）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0" y="3127248"/>
            <a:ext cx="256032" cy="256032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063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输入 API Key（加密存储在系统钥匙串）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0" y="3630168"/>
            <a:ext cx="256032" cy="256032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5661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获取或输入模型名称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0" y="4133088"/>
            <a:ext cx="256032" cy="256032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0690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点击「测试连接」</a:t>
            </a:r>
          </a:p>
        </p:txBody>
      </p:sp>
      <p:sp>
        <p:nvSpPr>
          <p:cNvPr id="17" name="Oval 16"/>
          <p:cNvSpPr/>
          <p:nvPr/>
        </p:nvSpPr>
        <p:spPr>
          <a:xfrm>
            <a:off x="6949440" y="4636008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5720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测试通过 → 保存并添加到列表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86400"/>
            <a:ext cx="34747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56144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B2838"/>
                </a:solidFill>
                <a:latin typeface="Microsoft YaHei"/>
              </a:rPr>
              <a:t>🔐 </a:t>
            </a:r>
            <a:r>
              <a:rPr sz="1200" b="1" i="0" dirty="0" err="1">
                <a:solidFill>
                  <a:srgbClr val="1B2838"/>
                </a:solidFill>
                <a:latin typeface="Microsoft YaHei"/>
              </a:rPr>
              <a:t>安全存储</a:t>
            </a:r>
            <a:endParaRPr sz="1200" b="1" i="0" dirty="0">
              <a:solidFill>
                <a:srgbClr val="1B2838"/>
              </a:solidFill>
              <a:latin typeface="Microsoft YaHe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4400" y="58887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6B7B8D"/>
                </a:solidFill>
                <a:latin typeface="Microsoft YaHei"/>
              </a:rPr>
              <a:t>API Key </a:t>
            </a:r>
            <a:r>
              <a:rPr sz="1000" b="0" i="0" dirty="0" err="1">
                <a:solidFill>
                  <a:srgbClr val="6B7B8D"/>
                </a:solidFill>
                <a:latin typeface="Microsoft YaHei"/>
              </a:rPr>
              <a:t>加密保存在系统钥匙串</a:t>
            </a:r>
            <a:r>
              <a:rPr sz="1000" b="0" i="0" dirty="0">
                <a:solidFill>
                  <a:srgbClr val="6B7B8D"/>
                </a:solidFill>
                <a:latin typeface="Microsoft YaHei"/>
              </a:rPr>
              <a:t>
</a:t>
            </a:r>
            <a:r>
              <a:rPr sz="1000" b="0" i="0" dirty="0" err="1">
                <a:solidFill>
                  <a:srgbClr val="6B7B8D"/>
                </a:solidFill>
                <a:latin typeface="Microsoft YaHei"/>
              </a:rPr>
              <a:t>配置文件中不含明文</a:t>
            </a:r>
            <a:r>
              <a:rPr sz="1000" b="0" i="0" dirty="0">
                <a:solidFill>
                  <a:srgbClr val="6B7B8D"/>
                </a:solidFill>
                <a:latin typeface="Microsoft YaHei"/>
              </a:rPr>
              <a:t>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59" y="5486400"/>
            <a:ext cx="34747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56144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B2838"/>
                </a:solidFill>
                <a:latin typeface="Microsoft YaHei"/>
              </a:rPr>
              <a:t>🔄 </a:t>
            </a:r>
            <a:r>
              <a:rPr sz="1200" b="1" i="0" dirty="0" err="1">
                <a:solidFill>
                  <a:srgbClr val="1B2838"/>
                </a:solidFill>
                <a:latin typeface="Microsoft YaHei"/>
              </a:rPr>
              <a:t>多接入方式</a:t>
            </a:r>
            <a:endParaRPr sz="1200" b="1" i="0" dirty="0">
              <a:solidFill>
                <a:srgbClr val="1B2838"/>
              </a:solidFill>
              <a:latin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63440" y="58887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同一服务商按 provider+base_url
区分不同接入方式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5486400"/>
            <a:ext cx="34747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0" y="56144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🔍 模型管理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8887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搜索/多选/批量测试/新增检测
支持下线模型提醒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Microsoft YaHei"/>
              </a:rPr>
              <a:t>连接 BOSS 直聘页面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系统通过 Chrome DevTools 协议连接浏览器，操控 BOSS 推荐页面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874519"/>
            <a:ext cx="365760" cy="3657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点击「检测/连接浏览器」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2240280"/>
            <a:ext cx="54864" cy="27432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1520" y="2514600"/>
            <a:ext cx="365760" cy="3657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系统连接或启动 Chrome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2880360"/>
            <a:ext cx="54864" cy="27432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31520" y="3154679"/>
            <a:ext cx="365760" cy="3657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108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登录 BOSS 直聘账号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520440"/>
            <a:ext cx="54864" cy="27432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31520" y="3794759"/>
            <a:ext cx="365760" cy="3657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7490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打开「推荐牛人」页面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" y="4160520"/>
            <a:ext cx="54864" cy="27432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31520" y="4434840"/>
            <a:ext cx="365760" cy="3657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389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回到系统确认状态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52C"/>
                </a:solidFill>
                <a:latin typeface="Microsoft YaHei"/>
              </a:rPr>
              <a:t>浏览器状态判断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2560320"/>
            <a:ext cx="5486400" cy="91440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126480" y="2697479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未连接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没有连到 Chrome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→ 点击检测/连接浏览器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3657600"/>
            <a:ext cx="5486400" cy="91440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126480" y="3794760"/>
            <a:ext cx="109728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需导航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已连接但不在推荐页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→ 手工打开推荐页面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4754879"/>
            <a:ext cx="5486400" cy="91440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126480" y="4892040"/>
            <a:ext cx="109728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已连接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484631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已连接到推荐页面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52120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→ ✅ 可以开始运行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39C12"/>
                </a:solidFill>
                <a:latin typeface="Microsoft YaHei"/>
              </a:rPr>
              <a:t>⚠️  系统不会替你绕过验证码。出现验证时，先在浏览器完成验证，再回到系统继续。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运行筛选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运行前确认：浏览器已连接 + 推荐页面已打开 + 岗位选择正确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63888" y="138806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838"/>
                </a:solidFill>
                <a:latin typeface="Microsoft YaHei"/>
              </a:rPr>
              <a:t>运行参数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63888" y="1936708"/>
            <a:ext cx="5029200" cy="4572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46768" y="19824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选择岗位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688" y="198242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单岗位优先；全部岗位适合批量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888" y="2485348"/>
            <a:ext cx="5029200" cy="4572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46768" y="25310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滚动轮次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688" y="25310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默认 100，测试可设 20-50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888" y="3033987"/>
            <a:ext cx="5029200" cy="4572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46768" y="30797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AI 辅助评估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688" y="307970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需模型配置，增加耗时和成本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888" y="3582627"/>
            <a:ext cx="5029200" cy="4572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46768" y="362834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自动打招呼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688" y="362834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首次建议"仅筛选"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888" y="42227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838"/>
                </a:solidFill>
                <a:latin typeface="Microsoft YaHei"/>
              </a:rPr>
              <a:t>打招呼策略</a:t>
            </a:r>
          </a:p>
        </p:txBody>
      </p:sp>
      <p:sp>
        <p:nvSpPr>
          <p:cNvPr id="19" name="Oval 18"/>
          <p:cNvSpPr/>
          <p:nvPr/>
        </p:nvSpPr>
        <p:spPr>
          <a:xfrm>
            <a:off x="6255328" y="4844500"/>
            <a:ext cx="182880" cy="182880"/>
          </a:xfrm>
          <a:prstGeom prst="ellipse">
            <a:avLst/>
          </a:prstGeom>
          <a:solidFill>
            <a:srgbClr val="6B7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1088" y="47530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仅筛选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8448" y="47530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只提取、评分、保存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78688" y="47530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B8D"/>
                </a:solidFill>
                <a:latin typeface="Microsoft YaHei"/>
              </a:rPr>
              <a:t>首次测试推荐</a:t>
            </a:r>
          </a:p>
        </p:txBody>
      </p:sp>
      <p:sp>
        <p:nvSpPr>
          <p:cNvPr id="23" name="Oval 22"/>
          <p:cNvSpPr/>
          <p:nvPr/>
        </p:nvSpPr>
        <p:spPr>
          <a:xfrm>
            <a:off x="6255328" y="5393140"/>
            <a:ext cx="182880" cy="18288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1088" y="53017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仅强烈推荐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8448" y="53017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≥75 分才打招呼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78688" y="53017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52C"/>
                </a:solidFill>
                <a:latin typeface="Microsoft YaHei"/>
              </a:rPr>
              <a:t>保守策略</a:t>
            </a:r>
          </a:p>
        </p:txBody>
      </p:sp>
      <p:sp>
        <p:nvSpPr>
          <p:cNvPr id="27" name="Oval 26"/>
          <p:cNvSpPr/>
          <p:nvPr/>
        </p:nvSpPr>
        <p:spPr>
          <a:xfrm>
            <a:off x="6255328" y="5941780"/>
            <a:ext cx="182880" cy="182880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21088" y="58503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推荐+强烈推荐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8448" y="58503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≥65 分就打招呼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8688" y="58503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D7DD2"/>
                </a:solidFill>
                <a:latin typeface="Microsoft YaHei"/>
              </a:rPr>
              <a:t>积极策略</a:t>
            </a:r>
          </a:p>
        </p:txBody>
      </p:sp>
      <p:pic>
        <p:nvPicPr>
          <p:cNvPr id="31" name="Picture 30" descr="04-run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384" y="1371600"/>
            <a:ext cx="4614731" cy="5472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评分体系与推荐等级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四维评分模型 + AI 调整分，最终决定推荐等级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四维评分模型（满分 100）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25603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2560320" cy="54864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基础分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B2838"/>
                </a:solidFill>
                <a:latin typeface="Microsoft YaHei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固定基础分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194560"/>
            <a:ext cx="25603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66160" y="2194560"/>
            <a:ext cx="2560320" cy="54864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9040" y="2377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技能匹配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D7DD2"/>
                </a:solidFill>
                <a:latin typeface="Microsoft YaHei"/>
              </a:rPr>
              <a:t>0~50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关键词权重 × 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194560"/>
            <a:ext cx="25603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0" y="2194560"/>
            <a:ext cx="2560320" cy="54864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377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经验超额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8652C"/>
                </a:solidFill>
                <a:latin typeface="Microsoft YaHei"/>
              </a:rPr>
              <a:t>0~15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超出要求年限加分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2194560"/>
            <a:ext cx="25603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235440" y="2194560"/>
            <a:ext cx="2560320" cy="54864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18320" y="2377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838"/>
                </a:solidFill>
                <a:latin typeface="Microsoft YaHei"/>
              </a:rPr>
              <a:t>学历档次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C5CE7"/>
                </a:solidFill>
                <a:latin typeface="Microsoft YaHei"/>
              </a:rPr>
              <a:t>0~10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B8D"/>
                </a:solidFill>
                <a:latin typeface="Microsoft YaHei"/>
              </a:rPr>
              <a:t>硕博/本科/大专分档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推荐等级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754880"/>
            <a:ext cx="1645920" cy="3657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强烈推荐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7365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≥ 75 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7365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自动打招呼（激进策略）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257800"/>
            <a:ext cx="1645920" cy="365760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推    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52395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65-74 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52395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自动打招呼（保守策略）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760720"/>
            <a:ext cx="1645920" cy="3657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待    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57424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55-64 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57424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仅保存，不打招呼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6263640"/>
            <a:ext cx="164592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icrosoft YaHei"/>
              </a:rPr>
              <a:t>淘    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0" y="62453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&lt; 55 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31920" y="62453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不进入结果统计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0" y="4206240"/>
            <a:ext cx="45720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132320" y="4297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838"/>
                </a:solidFill>
                <a:latin typeface="Microsoft YaHei"/>
              </a:rPr>
              <a:t>🤖 AI 二次评估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472930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3D4F5F"/>
                </a:solidFill>
                <a:latin typeface="Microsoft YaHei"/>
              </a:rPr>
              <a:t>• 对 ≥55 </a:t>
            </a:r>
            <a:r>
              <a:rPr sz="1100" b="0" i="0" dirty="0" err="1">
                <a:solidFill>
                  <a:srgbClr val="3D4F5F"/>
                </a:solidFill>
                <a:latin typeface="Microsoft YaHei"/>
              </a:rPr>
              <a:t>分候选人做</a:t>
            </a:r>
            <a:r>
              <a:rPr sz="1100" b="0" i="0" dirty="0">
                <a:solidFill>
                  <a:srgbClr val="3D4F5F"/>
                </a:solidFill>
                <a:latin typeface="Microsoft YaHei"/>
              </a:rPr>
              <a:t> LLM </a:t>
            </a:r>
            <a:r>
              <a:rPr sz="1100" b="0" i="0" dirty="0" err="1">
                <a:solidFill>
                  <a:srgbClr val="3D4F5F"/>
                </a:solidFill>
                <a:latin typeface="Microsoft YaHei"/>
              </a:rPr>
              <a:t>二次评估</a:t>
            </a:r>
            <a:endParaRPr sz="1100" b="0" i="0" dirty="0">
              <a:solidFill>
                <a:srgbClr val="3D4F5F"/>
              </a:solidFill>
              <a:latin typeface="Microsoft YaHe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132320" y="509506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3D4F5F"/>
                </a:solidFill>
                <a:latin typeface="Microsoft YaHei"/>
              </a:rPr>
              <a:t>• </a:t>
            </a:r>
            <a:r>
              <a:rPr sz="1100" b="0" i="0" dirty="0" err="1">
                <a:solidFill>
                  <a:srgbClr val="3D4F5F"/>
                </a:solidFill>
                <a:latin typeface="Microsoft YaHei"/>
              </a:rPr>
              <a:t>调整分范围</a:t>
            </a:r>
            <a:r>
              <a:rPr sz="1100" b="0" i="0" dirty="0">
                <a:solidFill>
                  <a:srgbClr val="3D4F5F"/>
                </a:solidFill>
                <a:latin typeface="Microsoft YaHei"/>
              </a:rPr>
              <a:t>：±10 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546082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• 调整后叠加到规则评分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582658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• 最多 50 人/次，并发 3 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619234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• 含 429 限流退避保护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筛选结果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查看候选人列表、右键操作、单独打招呼、导出 Excel</a:t>
            </a:r>
          </a:p>
        </p:txBody>
      </p:sp>
      <p:pic>
        <p:nvPicPr>
          <p:cNvPr id="5" name="Picture 4" descr="05-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40175"/>
            <a:ext cx="6553059" cy="37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117215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 err="1">
                <a:solidFill>
                  <a:srgbClr val="1B2838"/>
                </a:solidFill>
                <a:latin typeface="Microsoft YaHei"/>
              </a:rPr>
              <a:t>常用操作</a:t>
            </a:r>
            <a:endParaRPr sz="1800" b="1" i="0" dirty="0">
              <a:solidFill>
                <a:srgbClr val="1B2838"/>
              </a:solidFill>
              <a:latin typeface="Microsoft YaHe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0" y="2286000"/>
            <a:ext cx="3840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79" y="1803015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2838"/>
                </a:solidFill>
                <a:latin typeface="Microsoft YaHei"/>
              </a:rPr>
              <a:t>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7755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刷新结果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803015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从 JSON 重新加载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926080"/>
            <a:ext cx="3840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79" y="2443095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2838"/>
                </a:solidFill>
                <a:latin typeface="Microsoft YaHei"/>
              </a:rP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41566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导出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443095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生成/更新 XLSX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3566160"/>
            <a:ext cx="3840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79" y="308317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2838"/>
                </a:solidFill>
                <a:latin typeface="Microsoft YaHei"/>
              </a:rPr>
              <a:t>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05574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打开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08317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用默认程序打开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206240"/>
            <a:ext cx="3840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55279" y="372325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2838"/>
                </a:solidFill>
                <a:latin typeface="Microsoft YaHei"/>
              </a:rPr>
              <a:t>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69582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838"/>
                </a:solidFill>
                <a:latin typeface="Microsoft YaHei"/>
              </a:rPr>
              <a:t>清空候选人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372325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操作前自动备份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500495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838"/>
                </a:solidFill>
                <a:latin typeface="Microsoft YaHei"/>
              </a:rPr>
              <a:t>右键菜单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04913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▸ 查看候选人详情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536917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▸ 单独打招呼（定位卡片）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568921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▸ 移除候选人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600925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D4F5F"/>
                </a:solidFill>
                <a:latin typeface="Microsoft YaHei"/>
              </a:rPr>
              <a:t>▸ 导出选中候选人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数据统计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按岗位和时间范围统计，判断规则质量</a:t>
            </a:r>
          </a:p>
        </p:txBody>
      </p:sp>
      <p:pic>
        <p:nvPicPr>
          <p:cNvPr id="5" name="Picture 4" descr="06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06" y="1893276"/>
            <a:ext cx="6553058" cy="37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95744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838"/>
                </a:solidFill>
                <a:latin typeface="Microsoft YaHei"/>
              </a:rPr>
              <a:t>统计指标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95744" y="192024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095744" y="1920240"/>
            <a:ext cx="54864" cy="9144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78624" y="2011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总候选人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78624" y="2377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≥55 分的人数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64624" y="192024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564624" y="1920240"/>
            <a:ext cx="54864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47503" y="2011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强烈推荐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47503" y="2377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≥75 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95744" y="297180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095744" y="2971800"/>
            <a:ext cx="54864" cy="9144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78624" y="30632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推荐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624" y="34290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65-74 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4624" y="297180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564624" y="2971800"/>
            <a:ext cx="54864" cy="914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47503" y="30632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待定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47503" y="34290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55-64 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95744" y="4023359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095744" y="4023359"/>
            <a:ext cx="54864" cy="9144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78624" y="411479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已打招呼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624" y="448055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已发送消息数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64624" y="4023359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564624" y="4023359"/>
            <a:ext cx="54864" cy="9144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47503" y="411479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优质率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47503" y="448055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强推+推荐占比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95744" y="507492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095744" y="5074920"/>
            <a:ext cx="54864" cy="914400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78624" y="516635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打招呼率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78624" y="55321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已打招呼占比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64624" y="507492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564624" y="5074920"/>
            <a:ext cx="54864" cy="914400"/>
          </a:xfrm>
          <a:prstGeom prst="rect">
            <a:avLst/>
          </a:prstGeom>
          <a:solidFill>
            <a:srgbClr val="6B7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747503" y="516635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平均分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3" y="55321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  <a:latin typeface="Microsoft YaHei"/>
              </a:rPr>
              <a:t>当前范围均分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716" y="6176751"/>
            <a:ext cx="1069848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143476" y="6222471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💡 优质率极低？通常不是市场没人，而是规则过硬、关键词偏窄或推荐池不匹配。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推荐操作习惯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  <a:latin typeface="Microsoft YaHei"/>
              </a:rPr>
              <a:t>新岗位先试跑，成熟岗位日常跑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0352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5303520" cy="54864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2286000" cy="365760"/>
          </a:xfrm>
          <a:prstGeom prst="round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新岗位首次跑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587751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60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先只配置规则，不启用 AI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136391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08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打招呼策略选「不打招呼（仅筛选）」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685032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滚动轮次设为 20-50（少量测试）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233672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看结果里的误杀、误放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782312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7548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调整岗位规则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330952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03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确认规则后开启「仅强烈推荐」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645920"/>
            <a:ext cx="530352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1645920"/>
            <a:ext cx="5303520" cy="54864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583680" y="1920240"/>
            <a:ext cx="2286000" cy="365760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</a:rPr>
              <a:t>成熟岗位日常</a:t>
            </a:r>
          </a:p>
        </p:txBody>
      </p:sp>
      <p:sp>
        <p:nvSpPr>
          <p:cNvPr id="23" name="Oval 22"/>
          <p:cNvSpPr/>
          <p:nvPr/>
        </p:nvSpPr>
        <p:spPr>
          <a:xfrm>
            <a:off x="6675120" y="2587751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5420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2838"/>
                </a:solidFill>
                <a:latin typeface="Microsoft YaHei"/>
              </a:rP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2560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检查浏览器连接</a:t>
            </a:r>
          </a:p>
        </p:txBody>
      </p:sp>
      <p:sp>
        <p:nvSpPr>
          <p:cNvPr id="26" name="Oval 25"/>
          <p:cNvSpPr/>
          <p:nvPr/>
        </p:nvSpPr>
        <p:spPr>
          <a:xfrm>
            <a:off x="6675120" y="3136391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0906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2838"/>
                </a:solidFill>
                <a:latin typeface="Microsoft YaHei"/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108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确认 BOSS 当前职位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3685032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6393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2838"/>
                </a:solidFill>
                <a:latin typeface="Microsoft YaHei"/>
              </a:rP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657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运行筛选</a:t>
            </a:r>
          </a:p>
        </p:txBody>
      </p:sp>
      <p:sp>
        <p:nvSpPr>
          <p:cNvPr id="32" name="Oval 31"/>
          <p:cNvSpPr/>
          <p:nvPr/>
        </p:nvSpPr>
        <p:spPr>
          <a:xfrm>
            <a:off x="6675120" y="4233672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1879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2838"/>
                </a:solidFill>
                <a:latin typeface="Microsoft YaHei"/>
              </a:rPr>
              <a:t>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206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查看筛选结果</a:t>
            </a:r>
          </a:p>
        </p:txBody>
      </p:sp>
      <p:sp>
        <p:nvSpPr>
          <p:cNvPr id="35" name="Oval 34"/>
          <p:cNvSpPr/>
          <p:nvPr/>
        </p:nvSpPr>
        <p:spPr>
          <a:xfrm>
            <a:off x="6675120" y="4782312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7365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2838"/>
                </a:solidFill>
                <a:latin typeface="Microsoft YaHei"/>
              </a:rPr>
              <a:t>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47548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导出 Excel</a:t>
            </a:r>
          </a:p>
        </p:txBody>
      </p:sp>
      <p:sp>
        <p:nvSpPr>
          <p:cNvPr id="38" name="Oval 37"/>
          <p:cNvSpPr/>
          <p:nvPr/>
        </p:nvSpPr>
        <p:spPr>
          <a:xfrm>
            <a:off x="6675120" y="5330952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52852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2838"/>
                </a:solidFill>
                <a:latin typeface="Microsoft YaHei"/>
              </a:rPr>
              <a:t>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5303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5F"/>
                </a:solidFill>
                <a:latin typeface="Microsoft YaHei"/>
              </a:rPr>
              <a:t>查看统计，判断是否微调规则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B2838"/>
                </a:solidFill>
                <a:latin typeface="Microsoft YaHei"/>
              </a:rPr>
              <a:t>常见问题速查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731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" y="1508760"/>
            <a:ext cx="45720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417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提示「未连接」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73736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回到运行控制 → 点击检测/连接浏览器 → 确认 Chrome 已启动且打开推荐页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240280"/>
            <a:ext cx="54864" cy="7315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05840" y="2377440"/>
            <a:ext cx="45720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提示「需导航」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60604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Chrome 已连接但不在推荐页 → 手工打开目标岗位的推荐牛人页面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08960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3108960"/>
            <a:ext cx="54864" cy="7315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5840" y="3246120"/>
            <a:ext cx="45720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5467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BOSS 弹出验证码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47472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系统暂停等待 → 在浏览器完成验证 → 回到系统选择继续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977639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3977639"/>
            <a:ext cx="54864" cy="73152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05840" y="4114800"/>
            <a:ext cx="457200" cy="457200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0233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AI 评估失败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34340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检查 API Key → Base URL → 模型名称 → 是否已开通 → 额度是否耗尽（不要先改规则）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520" y="4846320"/>
            <a:ext cx="54864" cy="73152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05840" y="4983480"/>
            <a:ext cx="457200" cy="457200"/>
          </a:xfrm>
          <a:prstGeom prst="round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Q5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892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候选人很少/质量差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21208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检查：职位选对？地点过窄？必要过硬？关键词过少？轮次太低？推荐池枯竭？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715000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31520" y="5715000"/>
            <a:ext cx="54864" cy="731520"/>
          </a:xfrm>
          <a:prstGeom prst="rect">
            <a:avLst/>
          </a:prstGeom>
          <a:solidFill>
            <a:srgbClr val="6B7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005840" y="5852160"/>
            <a:ext cx="457200" cy="457200"/>
          </a:xfrm>
          <a:prstGeom prst="roundRect">
            <a:avLst/>
          </a:prstGeom>
          <a:solidFill>
            <a:srgbClr val="6B7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Q6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760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838"/>
                </a:solidFill>
                <a:latin typeface="Microsoft YaHei"/>
              </a:rPr>
              <a:t>Excel 没有更新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608076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B8D"/>
                </a:solidFill>
                <a:latin typeface="Microsoft YaHei"/>
              </a:rPr>
              <a:t>筛选结果 → 刷新结果 → 导出 Excel → 确认 JSON 有新数据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Microsoft YaHei"/>
              </a:rPr>
              <a:t>快速检查清单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52C"/>
                </a:solidFill>
                <a:latin typeface="Microsoft YaHei"/>
              </a:rPr>
              <a:t>运行前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岗位规则已保存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BOSS 网页端已登录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Chrome 已连接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当前页面是目标岗位推荐牛人页面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系统选择岗位与 BOSS 页面一致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AI 模型已测试通过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新岗位未直接启用大范围打招呼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52C"/>
                </a:solidFill>
                <a:latin typeface="Microsoft YaHei"/>
              </a:rPr>
              <a:t>运行后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筛选结果页已刷新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Excel 已导出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43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数据统计已查看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54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异常候选人已核对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66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☑  必要时备份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B7B8D"/>
                </a:solidFill>
                <a:latin typeface="Microsoft YaHei"/>
              </a:rPr>
              <a:t>关键数据文件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669280"/>
            <a:ext cx="2103120" cy="54864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669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652C"/>
                </a:solidFill>
                <a:latin typeface="Microsoft YaHei"/>
              </a:rPr>
              <a:t>job_config.json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436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B8D"/>
                </a:solidFill>
                <a:latin typeface="Microsoft YaHei"/>
              </a:rPr>
              <a:t>岗位规则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17520" y="5669280"/>
            <a:ext cx="2103120" cy="54864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08960" y="5669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652C"/>
                </a:solidFill>
                <a:latin typeface="Microsoft YaHei"/>
              </a:rPr>
              <a:t>api_config.json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59436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B8D"/>
                </a:solidFill>
                <a:latin typeface="Microsoft YaHei"/>
              </a:rPr>
              <a:t>模型配置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0" y="5669280"/>
            <a:ext cx="2103120" cy="54864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94959" y="5669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652C"/>
                </a:solidFill>
                <a:latin typeface="Microsoft YaHei"/>
              </a:rPr>
              <a:t>candidates_all.json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59" y="59436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B8D"/>
                </a:solidFill>
                <a:latin typeface="Microsoft YaHei"/>
              </a:rPr>
              <a:t>候选人数据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5669280"/>
            <a:ext cx="2103120" cy="54864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80960" y="5669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652C"/>
                </a:solidFill>
                <a:latin typeface="Microsoft YaHei"/>
              </a:rPr>
              <a:t>candidates_all.xlsx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59436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B8D"/>
                </a:solidFill>
                <a:latin typeface="Microsoft YaHei"/>
              </a:rPr>
              <a:t>Excel 导出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75520" y="5669280"/>
            <a:ext cx="2103120" cy="54864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66960" y="5669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652C"/>
                </a:solidFill>
                <a:latin typeface="Microsoft YaHei"/>
              </a:rPr>
              <a:t>selectors.json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59436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B8D"/>
                </a:solidFill>
                <a:latin typeface="Microsoft YaHei"/>
              </a:rPr>
              <a:t>页面选择器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0080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6B7B8D"/>
                </a:solidFill>
                <a:latin typeface="Microsoft YaHei"/>
              </a:rPr>
              <a:t>BOSS </a:t>
            </a:r>
            <a:r>
              <a:rPr sz="1100" b="0" i="0" dirty="0" err="1">
                <a:solidFill>
                  <a:srgbClr val="6B7B8D"/>
                </a:solidFill>
                <a:latin typeface="Microsoft YaHei"/>
              </a:rPr>
              <a:t>招聘系统</a:t>
            </a:r>
            <a:r>
              <a:rPr sz="1100" b="0" i="0" dirty="0">
                <a:solidFill>
                  <a:srgbClr val="6B7B8D"/>
                </a:solidFill>
                <a:latin typeface="Microsoft YaHei"/>
              </a:rPr>
              <a:t> v2.9</a:t>
            </a:r>
            <a:r>
              <a:rPr lang="en-US" sz="1100" dirty="0">
                <a:solidFill>
                  <a:srgbClr val="6B7B8D"/>
                </a:solidFill>
                <a:latin typeface="Microsoft YaHei"/>
              </a:rPr>
              <a:t>.2</a:t>
            </a:r>
            <a:r>
              <a:rPr sz="1100" b="0" i="0" dirty="0">
                <a:solidFill>
                  <a:srgbClr val="6B7B8D"/>
                </a:solidFill>
                <a:latin typeface="Microsoft YaHei"/>
              </a:rPr>
              <a:t> · </a:t>
            </a:r>
            <a:r>
              <a:rPr sz="1100" b="0" i="0" dirty="0" err="1">
                <a:solidFill>
                  <a:srgbClr val="6B7B8D"/>
                </a:solidFill>
                <a:latin typeface="Microsoft YaHei"/>
              </a:rPr>
              <a:t>操作指南</a:t>
            </a:r>
            <a:r>
              <a:rPr sz="1100" b="0" i="0" dirty="0">
                <a:solidFill>
                  <a:srgbClr val="6B7B8D"/>
                </a:solidFill>
                <a:latin typeface="Microsoft YaHei"/>
              </a:rPr>
              <a:t>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B8D"/>
                </a:solidFill>
                <a:latin typeface="Microsoft YaHe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2013 - 2022 主题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882</Words>
  <Application>Microsoft Office PowerPoint</Application>
  <PresentationFormat>宽屏</PresentationFormat>
  <Paragraphs>340</Paragraphs>
  <Slides>15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有忠 姚</cp:lastModifiedBy>
  <cp:revision>5</cp:revision>
  <dcterms:created xsi:type="dcterms:W3CDTF">2013-01-27T09:14:16Z</dcterms:created>
  <dcterms:modified xsi:type="dcterms:W3CDTF">2026-06-04T03:08:47Z</dcterms:modified>
  <cp:category/>
</cp:coreProperties>
</file>